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256" r:id="rId5"/>
    <p:sldId id="257" r:id="rId6"/>
    <p:sldId id="258" r:id="rId7"/>
    <p:sldId id="259" r:id="rId8"/>
    <p:sldId id="260" r:id="rId9"/>
    <p:sldId id="261" r:id="rId10"/>
    <p:sldId id="262" r:id="rId11"/>
    <p:sldId id="277" r:id="rId12"/>
    <p:sldId id="278" r:id="rId13"/>
    <p:sldId id="276" r:id="rId14"/>
    <p:sldId id="279" r:id="rId15"/>
    <p:sldId id="280" r:id="rId16"/>
    <p:sldId id="281" r:id="rId17"/>
    <p:sldId id="282" r:id="rId18"/>
    <p:sldId id="283" r:id="rId19"/>
    <p:sldId id="287" r:id="rId20"/>
    <p:sldId id="286" r:id="rId21"/>
    <p:sldId id="284" r:id="rId22"/>
    <p:sldId id="285" r:id="rId23"/>
    <p:sldId id="289" r:id="rId24"/>
    <p:sldId id="288" r:id="rId25"/>
  </p:sldIdLst>
  <p:sldSz cx="12192000" cy="6858000"/>
  <p:notesSz cx="6858000" cy="1857375"/>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29" autoAdjust="0"/>
    <p:restoredTop sz="91480" autoAdjust="0"/>
  </p:normalViewPr>
  <p:slideViewPr>
    <p:cSldViewPr snapToGrid="0">
      <p:cViewPr varScale="1">
        <p:scale>
          <a:sx n="81" d="100"/>
          <a:sy n="81" d="100"/>
        </p:scale>
        <p:origin x="1147" y="67"/>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viewProps" Target="viewProp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8826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17" Type="http://schemas.openxmlformats.org/officeDocument/2006/relationships/image" Target="../media/image7.svg"/><Relationship Id="rId2" Type="http://schemas.openxmlformats.org/officeDocument/2006/relationships/slideLayout" Target="../slideLayouts/slideLayout2.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microsoft.com/office/2007/relationships/hdphoto" Target="../media/hdphoto1.wdp"/><Relationship Id="rId5" Type="http://schemas.openxmlformats.org/officeDocument/2006/relationships/slideLayout" Target="../slideLayouts/slideLayout5.xml"/><Relationship Id="rId15" Type="http://schemas.openxmlformats.org/officeDocument/2006/relationships/image" Target="../media/image5.svg"/><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10">
            <a:alphaModFix amt="5000"/>
            <a:extLst>
              <a:ext uri="{BEBA8EAE-BF5A-486C-A8C5-ECC9F3942E4B}">
                <a14:imgProps xmlns:a14="http://schemas.microsoft.com/office/drawing/2010/main">
                  <a14:imgLayer r:embed="rId11">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9"/>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 id="2147483674" r:id="rId7"/>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hyperlink" Target="https://github.com/Leviathan-404/SpaceX-Falcon-9-Project" TargetMode="Externa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678729" y="2762052"/>
            <a:ext cx="8346697" cy="843241"/>
          </a:xfrm>
          <a:noFill/>
        </p:spPr>
        <p:txBody>
          <a:bodyPr>
            <a:normAutofit/>
          </a:bodyPr>
          <a:lstStyle/>
          <a:p>
            <a:r>
              <a:rPr lang="en-US" sz="3200" dirty="0"/>
              <a:t>SpaceX Falcon 9 Project</a:t>
            </a:r>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439555" y="3796008"/>
            <a:ext cx="9135454" cy="1655762"/>
          </a:xfrm>
          <a:noFill/>
        </p:spPr>
        <p:txBody>
          <a:bodyPr/>
          <a:lstStyle/>
          <a:p>
            <a:r>
              <a:rPr lang="en-US" dirty="0"/>
              <a:t>IBM Data Science Professional</a:t>
            </a:r>
          </a:p>
          <a:p>
            <a:r>
              <a:rPr lang="en-US" dirty="0"/>
              <a:t>Certificate</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
        <p:nvSpPr>
          <p:cNvPr id="5" name="TextBox 4">
            <a:extLst>
              <a:ext uri="{FF2B5EF4-FFF2-40B4-BE49-F238E27FC236}">
                <a16:creationId xmlns:a16="http://schemas.microsoft.com/office/drawing/2014/main" id="{73936F03-1663-49AF-26A4-9150A8CA1E91}"/>
              </a:ext>
            </a:extLst>
          </p:cNvPr>
          <p:cNvSpPr txBox="1"/>
          <p:nvPr/>
        </p:nvSpPr>
        <p:spPr>
          <a:xfrm>
            <a:off x="3318235" y="4738688"/>
            <a:ext cx="3459637" cy="646331"/>
          </a:xfrm>
          <a:prstGeom prst="rect">
            <a:avLst/>
          </a:prstGeom>
          <a:noFill/>
        </p:spPr>
        <p:txBody>
          <a:bodyPr wrap="square" rtlCol="0">
            <a:spAutoFit/>
          </a:bodyPr>
          <a:lstStyle/>
          <a:p>
            <a:r>
              <a:rPr lang="en-US" dirty="0">
                <a:hlinkClick r:id="rId4"/>
              </a:rPr>
              <a:t>https://github.com/Leviathan-404/SpaceX-Falcon-9-Project</a:t>
            </a:r>
            <a:endParaRPr lang="en-US" dirty="0"/>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Analyzed rocket launch data using python</a:t>
            </a:r>
          </a:p>
          <a:p>
            <a:r>
              <a:rPr lang="en-US" sz="2200" dirty="0"/>
              <a:t>Used a downloaded dataset because the API was unavailable</a:t>
            </a:r>
          </a:p>
          <a:p>
            <a:r>
              <a:rPr lang="en-US" sz="2200" dirty="0"/>
              <a:t>Included a web-scraping notebook to show the alternative data-collection method</a:t>
            </a:r>
            <a:endParaRPr lang="en-US" sz="1800" dirty="0"/>
          </a:p>
          <a:p>
            <a:r>
              <a:rPr lang="en-US" sz="2200" dirty="0"/>
              <a:t>Cleaned and explored the data using pandas and </a:t>
            </a:r>
            <a:r>
              <a:rPr lang="en-US" sz="2200" dirty="0" err="1"/>
              <a:t>numpy</a:t>
            </a:r>
            <a:endParaRPr lang="en-US" sz="2200" dirty="0"/>
          </a:p>
          <a:p>
            <a:r>
              <a:rPr lang="en-US" sz="2200" dirty="0"/>
              <a:t>Found that landing success varied by booster version and launch site</a:t>
            </a:r>
          </a:p>
          <a:p>
            <a:r>
              <a:rPr lang="en-US" sz="2200" dirty="0"/>
              <a:t>Future work could include newer data and predictive modeling</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128928" y="2208591"/>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dirty="0">
                <a:solidFill>
                  <a:schemeClr val="tx1"/>
                </a:solidFill>
              </a:rPr>
              <a:t>This capstone project applies the end-to-end data science workflow to a real-world aerospace problem: predicting whether the SpaceX Falcon 9 first stage will land successfully.
Because first-stage reuse can significantly reduce launch costs, accurate landing predictions can support pricing and competitive bidding decisions.
The project uses data collection, wrangling, exploratory analysis, visualization, and machine learning to identify factors linked to successful landings.
The final model evaluation compares predictive performance and highlights insights that can help inform launch cost estimates.</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a:t>CAPSTONE METHODOLOGY</a:t>
            </a:r>
            <a:endParaRPr lang="en-US" dirty="0"/>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825625"/>
            <a:ext cx="7068725" cy="4351338"/>
          </a:xfrm>
          <a:prstGeom prst="rect">
            <a:avLst/>
          </a:prstGeom>
        </p:spPr>
        <p:txBody>
          <a:bodyPr vert="horz" wrap="square"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a:t>Data collection: Scraped Falcon 9 and Falcon Heavy historical launch records from Wikipedia.
EDA + labeling: Explored landing outcomes and converted results into supervised learning labels: 1 = successful landing, 0 = unsuccessful landing.
SQL analysis: Used SQL queries to complete required analysis tasks and summarize launch patterns.
Feature engineering: Cleaned variables and prepared features for model training.
Interactive analytics: Built visual analysis with Folium maps and an interactive Dash app.
Machine learning: Created a pipeline to predict first-stage landing success using the prepared launch data.</a:t>
            </a:r>
            <a:endParaRPr lang="en-US" sz="16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title"/>
          </p:nvPr>
        </p:nvSpPr>
        <p:spPr>
          <a:xfrm>
            <a:off x="838200" y="365125"/>
            <a:ext cx="10515600" cy="1325563"/>
          </a:xfrm>
        </p:spPr>
        <p:txBody>
          <a:bodyPr anchor="ctr">
            <a:normAutofit/>
          </a:bodyPr>
          <a:lstStyle/>
          <a:p>
            <a:r>
              <a:rPr lang="en-US"/>
              <a:t>DATA COLLECTION &amp; WRANGLING</a:t>
            </a:r>
            <a:endParaRPr lang="en-US" dirty="0"/>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1500"/>
              <a:t>Source: Wikipedia page, List of Falcon 9 and Falcon Heavy launches.
Collection: Used requests, BeautifulSoup, and pandas to scrape and structure historical launch records after the SpaceX API was unavailable.
Fields captured: Included launch date, booster/version details, payload/orbit information, launch site, landing outcome, reuse indicators, landing pad, and location-related attributes.
Missing-value review: Identified missing attributes and calculated the percentage of missing values in each column.
Wrangling: Standardized landing outcomes, selected modeling features, and converted results into a binary target label: 1 = successful landing, 0 = unsuccessful landing.</a:t>
            </a:r>
            <a:endParaRPr lang="en-US" sz="1500" dirty="0"/>
          </a:p>
        </p:txBody>
      </p:sp>
      <p:sp>
        <p:nvSpPr>
          <p:cNvPr id="4" name="Rectangle 3">
            <a:extLst>
              <a:ext uri="{FF2B5EF4-FFF2-40B4-BE49-F238E27FC236}">
                <a16:creationId xmlns:a16="http://schemas.microsoft.com/office/drawing/2014/main" id="{425BF34C-B54A-4AA9-A55E-0DF1B0F47EDD}"/>
              </a:ext>
            </a:extLst>
          </p:cNvPr>
          <p:cNvSpPr/>
          <p:nvPr/>
        </p:nvSpPr>
        <p:spPr>
          <a:xfrm>
            <a:off x="8534400" y="1879600"/>
            <a:ext cx="2794000" cy="4292600"/>
          </a:xfrm>
          <a:prstGeom prst="rect">
            <a:avLst/>
          </a:prstGeom>
          <a:solidFill>
            <a:srgbClr val="1323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ormAutofit/>
          </a:bodyPr>
          <a:lstStyle/>
          <a:p>
            <a:pPr algn="l"/>
            <a:r>
              <a:rPr lang="en-US" sz="1500">
                <a:solidFill>
                  <a:srgbClr val="FFFFFF"/>
                </a:solidFill>
              </a:rPr>
              <a:t>FINAL OUTPUT
Cleaned Falcon 9 launch dataset prepared for:
• Exploratory data analysis
• SQL analysis
• Visual analytics
• Machine learning</a:t>
            </a:r>
          </a:p>
        </p:txBody>
      </p:sp>
      <p:sp>
        <p:nvSpPr>
          <p:cNvPr id="5" name="Rectangle 4">
            <a:extLst>
              <a:ext uri="{FF2B5EF4-FFF2-40B4-BE49-F238E27FC236}">
                <a16:creationId xmlns:a16="http://schemas.microsoft.com/office/drawing/2014/main" id="{6ADB0279-0448-47D5-BBAA-05BF451A6EB7}"/>
              </a:ext>
            </a:extLst>
          </p:cNvPr>
          <p:cNvSpPr/>
          <p:nvPr/>
        </p:nvSpPr>
        <p:spPr>
          <a:xfrm>
            <a:off x="8534400" y="1473200"/>
            <a:ext cx="2794000" cy="355600"/>
          </a:xfrm>
          <a:prstGeom prst="rect">
            <a:avLst/>
          </a:prstGeom>
          <a:solidFill>
            <a:srgbClr val="2F80E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r>
              <a:rPr lang="en-US" sz="1100" b="1">
                <a:solidFill>
                  <a:srgbClr val="FFFFFF"/>
                </a:solidFill>
              </a:rPr>
              <a:t>DATA PREPARATION PIPELINE</a:t>
            </a:r>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a:t>SQL ANALYSIS OF LAUNCH RECORDS</a:t>
            </a:r>
            <a:endParaRPr lang="en-US" dirty="0"/>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a:solidFill>
            <a:srgbClr val="2F80ED"/>
          </a:solidFill>
          <a:ln>
            <a:noFill/>
          </a:ln>
        </p:spPr>
        <p:txBody>
          <a:bodyPr>
            <a:normAutofit/>
          </a:bodyPr>
          <a:lstStyle/>
          <a:p>
            <a:pPr marL="0" indent="0">
              <a:buNone/>
            </a:pPr>
            <a:r>
              <a:rPr lang="en-US" sz="1800" b="1">
                <a:solidFill>
                  <a:srgbClr val="FFFFFF"/>
                </a:solidFill>
              </a:rPr>
              <a:t>SETUP</a:t>
            </a:r>
            <a:endParaRPr lang="en-US" sz="1800" b="1" dirty="0">
              <a:solidFill>
                <a:srgbClr val="FFFFFF"/>
              </a:solidFill>
            </a:endParaRP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a:solidFill>
            <a:srgbClr val="2F80ED"/>
          </a:solidFill>
          <a:ln>
            <a:noFill/>
          </a:ln>
        </p:spPr>
        <p:txBody>
          <a:bodyPr>
            <a:normAutofit/>
          </a:bodyPr>
          <a:lstStyle/>
          <a:p>
            <a:pPr marL="0" indent="0">
              <a:buNone/>
            </a:pPr>
            <a:r>
              <a:rPr lang="en-US" sz="1800" b="1">
                <a:solidFill>
                  <a:srgbClr val="FFFFFF"/>
                </a:solidFill>
              </a:rPr>
              <a:t>QUERY FOCUS</a:t>
            </a:r>
            <a:endParaRPr lang="en-US" sz="1800" b="1" dirty="0">
              <a:solidFill>
                <a:srgbClr val="FFFFFF"/>
              </a:solidFill>
            </a:endParaRP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38199" y="2506661"/>
            <a:ext cx="4614949" cy="3670301"/>
          </a:xfrm>
          <a:prstGeom prst="rect">
            <a:avLst/>
          </a:prstGeom>
          <a:solidFill>
            <a:srgbClr val="F3F7FC"/>
          </a:solidFill>
          <a:ln>
            <a:solidFill>
              <a:srgbClr val="D7E3F3"/>
            </a:solidFill>
          </a:ln>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500">
                <a:solidFill>
                  <a:schemeClr val="tx1"/>
                </a:solidFill>
              </a:rPr>
              <a:t>Tool environment
Jupyter Notebook SQL using %sql magic commands connected to a SQLite3 database.
Dataset
Cleaned Falcon 9 launch records prepared from the Wikipedia web-scraping and wrangling stage.
Purpose
Use SQL to summarize launch data, validate patterns, and prepare insights before visualization and machine learning.</a:t>
            </a:r>
            <a:endParaRPr lang="en-US" sz="15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a:solidFill>
            <a:srgbClr val="F3F7FC"/>
          </a:solidFill>
          <a:ln>
            <a:solidFill>
              <a:srgbClr val="D7E3F3"/>
            </a:solidFill>
          </a:ln>
        </p:spPr>
        <p:txBody>
          <a:bodyPr vert="horz" wrap="square"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500" dirty="0">
                <a:solidFill>
                  <a:schemeClr val="tx1"/>
                </a:solidFill>
              </a:rPr>
              <a:t>Main analysis tasks
• Queried launch sites and mission records
• Compared payload mass across customers and boosters
• Reviewed booster versions and landing outcomes
• Counted successful vs. unsuccessful landings
• Used filters, grouping, averages, and date-based queries
Result
SQL helped uncover structured patterns that supported later EDA, Folium/Dash visual analytics, and model feature selection.</a:t>
            </a:r>
          </a:p>
        </p:txBody>
      </p:sp>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infographic_presentation_slide_flat_moder.png"/>
          <p:cNvPicPr>
            <a:picLocks noChangeAspect="1"/>
          </p:cNvPicPr>
          <p:nvPr/>
        </p:nvPicPr>
        <p:blipFill>
          <a:blip r:embed="rId2"/>
          <a:stretch>
            <a:fillRect/>
          </a:stretch>
        </p:blipFill>
        <p:spPr>
          <a:xfrm>
            <a:off x="0" y="0"/>
            <a:ext cx="12191695" cy="6858000"/>
          </a:xfrm>
          <a:prstGeom prst="rect">
            <a:avLst/>
          </a:prstGeom>
        </p:spPr>
      </p:pic>
    </p:spTree>
    <p:extLst>
      <p:ext uri="{BB962C8B-B14F-4D97-AF65-F5344CB8AC3E}">
        <p14:creationId xmlns:p14="http://schemas.microsoft.com/office/powerpoint/2010/main" val="2152401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the united states">
            <a:extLst>
              <a:ext uri="{FF2B5EF4-FFF2-40B4-BE49-F238E27FC236}">
                <a16:creationId xmlns:a16="http://schemas.microsoft.com/office/drawing/2014/main" id="{B021F629-CFE7-2356-63FC-CFE69EF5D99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62388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78992"/>
          </a:xfrm>
          <a:prstGeom prst="rect">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sp>
        <p:nvSpPr>
          <p:cNvPr id="4" name="Rectangle 3"/>
          <p:cNvSpPr/>
          <p:nvPr/>
        </p:nvSpPr>
        <p:spPr>
          <a:xfrm>
            <a:off x="1097280" y="210312"/>
            <a:ext cx="22860" cy="640080"/>
          </a:xfrm>
          <a:prstGeom prst="rect">
            <a:avLst/>
          </a:prstGeom>
          <a:solidFill>
            <a:srgbClr val="55B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95457" y="285023"/>
            <a:ext cx="8263657" cy="1246495"/>
          </a:xfrm>
          <a:prstGeom prst="rect">
            <a:avLst/>
          </a:prstGeom>
          <a:noFill/>
        </p:spPr>
        <p:txBody>
          <a:bodyPr wrap="square" anchor="t">
            <a:spAutoFit/>
          </a:bodyPr>
          <a:lstStyle/>
          <a:p>
            <a:r>
              <a:rPr lang="en-US" sz="2400" b="0" i="0" dirty="0">
                <a:solidFill>
                  <a:schemeClr val="bg2"/>
                </a:solidFill>
                <a:effectLst/>
                <a:latin typeface="system-ui"/>
              </a:rPr>
              <a:t>Task 2: Marked success/failed launches for CCFAS SLC-40</a:t>
            </a:r>
          </a:p>
          <a:p>
            <a:pPr algn="l"/>
            <a:endParaRPr lang="en-US" sz="2400" b="1" dirty="0">
              <a:solidFill>
                <a:schemeClr val="bg2"/>
              </a:solidFill>
              <a:latin typeface="Aptos Display"/>
            </a:endParaRPr>
          </a:p>
          <a:p>
            <a:pPr algn="l"/>
            <a:endParaRPr sz="2700" b="1" dirty="0">
              <a:solidFill>
                <a:schemeClr val="bg2"/>
              </a:solidFill>
              <a:latin typeface="Aptos Display"/>
            </a:endParaRPr>
          </a:p>
        </p:txBody>
      </p:sp>
      <p:sp>
        <p:nvSpPr>
          <p:cNvPr id="18" name="Oval 17"/>
          <p:cNvSpPr/>
          <p:nvPr/>
        </p:nvSpPr>
        <p:spPr>
          <a:xfrm>
            <a:off x="475488" y="4169663"/>
            <a:ext cx="384048" cy="38404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64592" y="4956048"/>
            <a:ext cx="12026110" cy="1831816"/>
          </a:xfrm>
          <a:prstGeom prst="roundRect">
            <a:avLst/>
          </a:prstGeom>
          <a:solidFill>
            <a:srgbClr val="EA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Oval 37"/>
          <p:cNvSpPr/>
          <p:nvPr/>
        </p:nvSpPr>
        <p:spPr>
          <a:xfrm>
            <a:off x="384048" y="5193792"/>
            <a:ext cx="566928" cy="566928"/>
          </a:xfrm>
          <a:prstGeom prst="ellipse">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4048" y="5303520"/>
            <a:ext cx="566928" cy="256032"/>
          </a:xfrm>
          <a:prstGeom prst="rect">
            <a:avLst/>
          </a:prstGeom>
          <a:noFill/>
        </p:spPr>
        <p:txBody>
          <a:bodyPr wrap="none" anchor="t">
            <a:spAutoFit/>
          </a:bodyPr>
          <a:lstStyle/>
          <a:p>
            <a:pPr algn="ctr"/>
            <a:r>
              <a:rPr sz="1700" b="1">
                <a:solidFill>
                  <a:srgbClr val="FFFFFF"/>
                </a:solidFill>
                <a:latin typeface="Aptos"/>
              </a:rPr>
              <a:t>✦</a:t>
            </a:r>
          </a:p>
        </p:txBody>
      </p:sp>
      <p:sp>
        <p:nvSpPr>
          <p:cNvPr id="40" name="TextBox 39"/>
          <p:cNvSpPr txBox="1"/>
          <p:nvPr/>
        </p:nvSpPr>
        <p:spPr>
          <a:xfrm>
            <a:off x="994225" y="5230368"/>
            <a:ext cx="1874519" cy="320040"/>
          </a:xfrm>
          <a:prstGeom prst="rect">
            <a:avLst/>
          </a:prstGeom>
          <a:noFill/>
        </p:spPr>
        <p:txBody>
          <a:bodyPr wrap="none" anchor="t">
            <a:spAutoFit/>
          </a:bodyPr>
          <a:lstStyle/>
          <a:p>
            <a:pPr algn="l"/>
            <a:r>
              <a:rPr sz="2000" b="1" dirty="0">
                <a:solidFill>
                  <a:srgbClr val="073A69"/>
                </a:solidFill>
                <a:latin typeface="Aptos Display"/>
              </a:rPr>
              <a:t>Key Takeaways</a:t>
            </a:r>
          </a:p>
        </p:txBody>
      </p:sp>
      <p:sp>
        <p:nvSpPr>
          <p:cNvPr id="42" name="Rectangle 41"/>
          <p:cNvSpPr/>
          <p:nvPr/>
        </p:nvSpPr>
        <p:spPr>
          <a:xfrm>
            <a:off x="3584448" y="5148072"/>
            <a:ext cx="10972" cy="1188720"/>
          </a:xfrm>
          <a:prstGeom prst="rect">
            <a:avLst/>
          </a:prstGeom>
          <a:solidFill>
            <a:srgbClr val="C7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542711" y="5127578"/>
            <a:ext cx="10972" cy="1188720"/>
          </a:xfrm>
          <a:prstGeom prst="rect">
            <a:avLst/>
          </a:prstGeom>
          <a:solidFill>
            <a:srgbClr val="C7E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3767328" y="5257800"/>
            <a:ext cx="365760" cy="365760"/>
          </a:xfrm>
          <a:prstGeom prst="ellipse">
            <a:avLst/>
          </a:prstGeom>
          <a:solidFill>
            <a:srgbClr val="F28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1</a:t>
            </a:r>
          </a:p>
        </p:txBody>
      </p:sp>
      <p:sp>
        <p:nvSpPr>
          <p:cNvPr id="47" name="TextBox 46"/>
          <p:cNvSpPr txBox="1"/>
          <p:nvPr/>
        </p:nvSpPr>
        <p:spPr>
          <a:xfrm>
            <a:off x="4237699" y="5276088"/>
            <a:ext cx="1600200" cy="228600"/>
          </a:xfrm>
          <a:prstGeom prst="rect">
            <a:avLst/>
          </a:prstGeom>
          <a:noFill/>
        </p:spPr>
        <p:txBody>
          <a:bodyPr wrap="none" anchor="t">
            <a:spAutoFit/>
          </a:bodyPr>
          <a:lstStyle/>
          <a:p>
            <a:pPr algn="l"/>
            <a:r>
              <a:rPr sz="1050" b="1" dirty="0">
                <a:solidFill>
                  <a:srgbClr val="073A69"/>
                </a:solidFill>
                <a:latin typeface="Aptos"/>
              </a:rPr>
              <a:t>Key Finding 1</a:t>
            </a:r>
          </a:p>
        </p:txBody>
      </p:sp>
      <p:sp>
        <p:nvSpPr>
          <p:cNvPr id="49" name="Oval 48"/>
          <p:cNvSpPr/>
          <p:nvPr/>
        </p:nvSpPr>
        <p:spPr>
          <a:xfrm>
            <a:off x="7988023" y="5192689"/>
            <a:ext cx="365760" cy="365760"/>
          </a:xfrm>
          <a:prstGeom prst="ellipse">
            <a:avLst/>
          </a:prstGeom>
          <a:solidFill>
            <a:srgbClr val="147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Aptos Display"/>
              </a:rPr>
              <a:t>2</a:t>
            </a:r>
          </a:p>
        </p:txBody>
      </p:sp>
      <p:sp>
        <p:nvSpPr>
          <p:cNvPr id="50" name="TextBox 49"/>
          <p:cNvSpPr txBox="1"/>
          <p:nvPr/>
        </p:nvSpPr>
        <p:spPr>
          <a:xfrm>
            <a:off x="8370465" y="5248656"/>
            <a:ext cx="1600200" cy="228600"/>
          </a:xfrm>
          <a:prstGeom prst="rect">
            <a:avLst/>
          </a:prstGeom>
          <a:noFill/>
        </p:spPr>
        <p:txBody>
          <a:bodyPr wrap="none" anchor="t">
            <a:spAutoFit/>
          </a:bodyPr>
          <a:lstStyle/>
          <a:p>
            <a:pPr algn="l"/>
            <a:r>
              <a:rPr sz="1050" b="1" dirty="0">
                <a:solidFill>
                  <a:srgbClr val="073A69"/>
                </a:solidFill>
                <a:latin typeface="Aptos"/>
              </a:rPr>
              <a:t>Key Finding 2</a:t>
            </a:r>
          </a:p>
        </p:txBody>
      </p:sp>
      <p:sp>
        <p:nvSpPr>
          <p:cNvPr id="58" name="TextBox 57"/>
          <p:cNvSpPr txBox="1"/>
          <p:nvPr/>
        </p:nvSpPr>
        <p:spPr>
          <a:xfrm>
            <a:off x="228600" y="6574536"/>
            <a:ext cx="11704320" cy="164592"/>
          </a:xfrm>
          <a:prstGeom prst="rect">
            <a:avLst/>
          </a:prstGeom>
          <a:noFill/>
        </p:spPr>
        <p:txBody>
          <a:bodyPr wrap="none" anchor="t">
            <a:spAutoFit/>
          </a:bodyPr>
          <a:lstStyle/>
          <a:p>
            <a:pPr algn="r"/>
            <a:r>
              <a:rPr sz="650" b="0">
                <a:solidFill>
                  <a:srgbClr val="7D9AB0"/>
                </a:solidFill>
                <a:latin typeface="Aptos"/>
              </a:rPr>
              <a:t>EDITABLE TEMPLATE • Replace placeholders with your own data and findings</a:t>
            </a:r>
          </a:p>
        </p:txBody>
      </p:sp>
      <p:sp>
        <p:nvSpPr>
          <p:cNvPr id="59" name="TextBox 58"/>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pic>
        <p:nvPicPr>
          <p:cNvPr id="73" name="Picture 72" descr="A screenshot of a map&#10;&#10;Description automatically generated">
            <a:extLst>
              <a:ext uri="{FF2B5EF4-FFF2-40B4-BE49-F238E27FC236}">
                <a16:creationId xmlns:a16="http://schemas.microsoft.com/office/drawing/2014/main" id="{DA2E5E82-8615-AA1B-5681-A26DBA0C8D23}"/>
              </a:ext>
            </a:extLst>
          </p:cNvPr>
          <p:cNvPicPr>
            <a:picLocks noChangeAspect="1"/>
          </p:cNvPicPr>
          <p:nvPr/>
        </p:nvPicPr>
        <p:blipFill>
          <a:blip r:embed="rId2"/>
          <a:stretch>
            <a:fillRect/>
          </a:stretch>
        </p:blipFill>
        <p:spPr>
          <a:xfrm>
            <a:off x="1298" y="1058435"/>
            <a:ext cx="6287634" cy="3842749"/>
          </a:xfrm>
          <a:prstGeom prst="rect">
            <a:avLst/>
          </a:prstGeom>
        </p:spPr>
      </p:pic>
      <p:pic>
        <p:nvPicPr>
          <p:cNvPr id="75" name="Picture 74" descr="A map with points on it&#10;&#10;Description automatically generated">
            <a:extLst>
              <a:ext uri="{FF2B5EF4-FFF2-40B4-BE49-F238E27FC236}">
                <a16:creationId xmlns:a16="http://schemas.microsoft.com/office/drawing/2014/main" id="{45C40374-A478-F259-1489-EDCAB2590C6D}"/>
              </a:ext>
            </a:extLst>
          </p:cNvPr>
          <p:cNvPicPr>
            <a:picLocks noChangeAspect="1"/>
          </p:cNvPicPr>
          <p:nvPr/>
        </p:nvPicPr>
        <p:blipFill>
          <a:blip r:embed="rId3"/>
          <a:stretch>
            <a:fillRect/>
          </a:stretch>
        </p:blipFill>
        <p:spPr>
          <a:xfrm>
            <a:off x="6288932" y="1054575"/>
            <a:ext cx="5901770" cy="3842749"/>
          </a:xfrm>
          <a:prstGeom prst="rect">
            <a:avLst/>
          </a:prstGeom>
        </p:spPr>
      </p:pic>
      <p:sp>
        <p:nvSpPr>
          <p:cNvPr id="76" name="TextBox 75">
            <a:extLst>
              <a:ext uri="{FF2B5EF4-FFF2-40B4-BE49-F238E27FC236}">
                <a16:creationId xmlns:a16="http://schemas.microsoft.com/office/drawing/2014/main" id="{2C3D3367-78A3-F444-EB35-9FFA15EB86C1}"/>
              </a:ext>
            </a:extLst>
          </p:cNvPr>
          <p:cNvSpPr txBox="1"/>
          <p:nvPr/>
        </p:nvSpPr>
        <p:spPr>
          <a:xfrm>
            <a:off x="3838193" y="5650992"/>
            <a:ext cx="3456307" cy="1077218"/>
          </a:xfrm>
          <a:prstGeom prst="rect">
            <a:avLst/>
          </a:prstGeom>
          <a:noFill/>
        </p:spPr>
        <p:txBody>
          <a:bodyPr wrap="square" rtlCol="0">
            <a:spAutoFit/>
          </a:bodyPr>
          <a:lstStyle/>
          <a:p>
            <a:r>
              <a:rPr lang="en-US" sz="1600" b="1" dirty="0"/>
              <a:t>CCAFS SLC-40 (left):</a:t>
            </a:r>
            <a:r>
              <a:rPr lang="en-US" sz="1600" dirty="0"/>
              <a:t> Of the </a:t>
            </a:r>
            <a:r>
              <a:rPr lang="en-US" sz="1600" b="1" dirty="0"/>
              <a:t>26 recorded launches</a:t>
            </a:r>
            <a:r>
              <a:rPr lang="en-US" sz="1600" dirty="0"/>
              <a:t>, </a:t>
            </a:r>
            <a:r>
              <a:rPr lang="en-US" sz="1600" b="1" dirty="0"/>
              <a:t>7 were successful</a:t>
            </a:r>
            <a:r>
              <a:rPr lang="en-US" sz="1600" dirty="0"/>
              <a:t>, giving a success rate of approximately </a:t>
            </a:r>
            <a:r>
              <a:rPr lang="en-US" sz="1600" b="1" dirty="0"/>
              <a:t>26.9%</a:t>
            </a:r>
            <a:r>
              <a:rPr lang="en-US" sz="1600" dirty="0"/>
              <a:t>.</a:t>
            </a:r>
          </a:p>
        </p:txBody>
      </p:sp>
      <p:sp>
        <p:nvSpPr>
          <p:cNvPr id="77" name="TextBox 76">
            <a:extLst>
              <a:ext uri="{FF2B5EF4-FFF2-40B4-BE49-F238E27FC236}">
                <a16:creationId xmlns:a16="http://schemas.microsoft.com/office/drawing/2014/main" id="{4C1C62F9-A9A7-9690-3C0C-EC0C47A9C78E}"/>
              </a:ext>
            </a:extLst>
          </p:cNvPr>
          <p:cNvSpPr txBox="1"/>
          <p:nvPr/>
        </p:nvSpPr>
        <p:spPr>
          <a:xfrm>
            <a:off x="994225" y="5650992"/>
            <a:ext cx="2418315" cy="1200329"/>
          </a:xfrm>
          <a:prstGeom prst="rect">
            <a:avLst/>
          </a:prstGeom>
          <a:noFill/>
        </p:spPr>
        <p:txBody>
          <a:bodyPr wrap="square" rtlCol="0">
            <a:spAutoFit/>
          </a:bodyPr>
          <a:lstStyle/>
          <a:p>
            <a:r>
              <a:rPr lang="en-US" sz="1200" dirty="0"/>
              <a:t>The two Cape Canaveral-area launch sites show different success rates, with the second site recording a higher proportion of successful launches in this dataset.</a:t>
            </a:r>
          </a:p>
        </p:txBody>
      </p:sp>
      <p:sp>
        <p:nvSpPr>
          <p:cNvPr id="78" name="TextBox 77">
            <a:extLst>
              <a:ext uri="{FF2B5EF4-FFF2-40B4-BE49-F238E27FC236}">
                <a16:creationId xmlns:a16="http://schemas.microsoft.com/office/drawing/2014/main" id="{63CA3920-C7D5-7C2B-3953-8E82A2C875BE}"/>
              </a:ext>
            </a:extLst>
          </p:cNvPr>
          <p:cNvSpPr txBox="1"/>
          <p:nvPr/>
        </p:nvSpPr>
        <p:spPr>
          <a:xfrm>
            <a:off x="7846736" y="5646974"/>
            <a:ext cx="4061666" cy="830997"/>
          </a:xfrm>
          <a:prstGeom prst="rect">
            <a:avLst/>
          </a:prstGeom>
          <a:noFill/>
        </p:spPr>
        <p:txBody>
          <a:bodyPr wrap="square" rtlCol="0">
            <a:spAutoFit/>
          </a:bodyPr>
          <a:lstStyle/>
          <a:p>
            <a:r>
              <a:rPr lang="en-US" sz="1600" b="1" dirty="0"/>
              <a:t>Second launch site (right):</a:t>
            </a:r>
            <a:r>
              <a:rPr lang="en-US" sz="1600" dirty="0"/>
              <a:t> Of </a:t>
            </a:r>
            <a:r>
              <a:rPr lang="en-US" sz="1600" b="1" dirty="0"/>
              <a:t>7 recorded launches</a:t>
            </a:r>
            <a:r>
              <a:rPr lang="en-US" sz="1600" dirty="0"/>
              <a:t>, </a:t>
            </a:r>
            <a:r>
              <a:rPr lang="en-US" sz="1600" b="1" dirty="0"/>
              <a:t>3 were successful</a:t>
            </a:r>
            <a:r>
              <a:rPr lang="en-US" sz="1600" dirty="0"/>
              <a:t>, giving a success rate of approximately </a:t>
            </a:r>
            <a:r>
              <a:rPr lang="en-US" sz="1600" b="1" dirty="0"/>
              <a:t>42.9%</a:t>
            </a:r>
            <a:endParaRPr lang="en-US" sz="1600" dirty="0"/>
          </a:p>
        </p:txBody>
      </p:sp>
    </p:spTree>
    <p:extLst>
      <p:ext uri="{BB962C8B-B14F-4D97-AF65-F5344CB8AC3E}">
        <p14:creationId xmlns:p14="http://schemas.microsoft.com/office/powerpoint/2010/main" val="3952139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78992"/>
          </a:xfrm>
          <a:prstGeom prst="rect">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sp>
        <p:nvSpPr>
          <p:cNvPr id="4" name="Rectangle 3"/>
          <p:cNvSpPr/>
          <p:nvPr/>
        </p:nvSpPr>
        <p:spPr>
          <a:xfrm>
            <a:off x="1097280" y="210312"/>
            <a:ext cx="22860" cy="640080"/>
          </a:xfrm>
          <a:prstGeom prst="rect">
            <a:avLst/>
          </a:prstGeom>
          <a:solidFill>
            <a:srgbClr val="55B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8710" y="259145"/>
            <a:ext cx="9843224" cy="938719"/>
          </a:xfrm>
          <a:prstGeom prst="rect">
            <a:avLst/>
          </a:prstGeom>
          <a:noFill/>
        </p:spPr>
        <p:txBody>
          <a:bodyPr wrap="square" anchor="t">
            <a:spAutoFit/>
          </a:bodyPr>
          <a:lstStyle/>
          <a:p>
            <a:r>
              <a:rPr lang="en-US" sz="2800" b="0" i="0" dirty="0">
                <a:solidFill>
                  <a:schemeClr val="bg2"/>
                </a:solidFill>
                <a:effectLst/>
                <a:latin typeface="system-ui"/>
              </a:rPr>
              <a:t>Task 2: Marked success/failed launches for KSC LC 39A</a:t>
            </a:r>
          </a:p>
          <a:p>
            <a:pPr algn="l"/>
            <a:endParaRPr sz="2700" b="1" dirty="0">
              <a:solidFill>
                <a:schemeClr val="bg2"/>
              </a:solidFill>
              <a:latin typeface="Aptos Display"/>
            </a:endParaRPr>
          </a:p>
        </p:txBody>
      </p:sp>
      <p:sp>
        <p:nvSpPr>
          <p:cNvPr id="18" name="Oval 17"/>
          <p:cNvSpPr/>
          <p:nvPr/>
        </p:nvSpPr>
        <p:spPr>
          <a:xfrm>
            <a:off x="475488" y="4169663"/>
            <a:ext cx="384048" cy="38404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64592" y="4956048"/>
            <a:ext cx="12026110" cy="1831816"/>
          </a:xfrm>
          <a:prstGeom prst="roundRect">
            <a:avLst/>
          </a:prstGeom>
          <a:solidFill>
            <a:srgbClr val="EA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Oval 37"/>
          <p:cNvSpPr/>
          <p:nvPr/>
        </p:nvSpPr>
        <p:spPr>
          <a:xfrm>
            <a:off x="384048" y="5193792"/>
            <a:ext cx="566928" cy="566928"/>
          </a:xfrm>
          <a:prstGeom prst="ellipse">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4048" y="5303520"/>
            <a:ext cx="566928" cy="256032"/>
          </a:xfrm>
          <a:prstGeom prst="rect">
            <a:avLst/>
          </a:prstGeom>
          <a:noFill/>
        </p:spPr>
        <p:txBody>
          <a:bodyPr wrap="none" anchor="t">
            <a:spAutoFit/>
          </a:bodyPr>
          <a:lstStyle/>
          <a:p>
            <a:pPr algn="ctr"/>
            <a:r>
              <a:rPr sz="1700" b="1">
                <a:solidFill>
                  <a:srgbClr val="FFFFFF"/>
                </a:solidFill>
                <a:latin typeface="Aptos"/>
              </a:rPr>
              <a:t>✦</a:t>
            </a:r>
          </a:p>
        </p:txBody>
      </p:sp>
      <p:sp>
        <p:nvSpPr>
          <p:cNvPr id="40" name="TextBox 39"/>
          <p:cNvSpPr txBox="1"/>
          <p:nvPr/>
        </p:nvSpPr>
        <p:spPr>
          <a:xfrm>
            <a:off x="994225" y="5230368"/>
            <a:ext cx="1874519" cy="320040"/>
          </a:xfrm>
          <a:prstGeom prst="rect">
            <a:avLst/>
          </a:prstGeom>
          <a:noFill/>
        </p:spPr>
        <p:txBody>
          <a:bodyPr wrap="none" anchor="t">
            <a:spAutoFit/>
          </a:bodyPr>
          <a:lstStyle/>
          <a:p>
            <a:pPr algn="l"/>
            <a:r>
              <a:rPr sz="2000" b="1" dirty="0">
                <a:solidFill>
                  <a:srgbClr val="073A69"/>
                </a:solidFill>
                <a:latin typeface="Aptos Display"/>
              </a:rPr>
              <a:t>Key Takeaways</a:t>
            </a:r>
          </a:p>
        </p:txBody>
      </p:sp>
      <p:sp>
        <p:nvSpPr>
          <p:cNvPr id="58" name="TextBox 57"/>
          <p:cNvSpPr txBox="1"/>
          <p:nvPr/>
        </p:nvSpPr>
        <p:spPr>
          <a:xfrm>
            <a:off x="228600" y="6574536"/>
            <a:ext cx="11704320" cy="164592"/>
          </a:xfrm>
          <a:prstGeom prst="rect">
            <a:avLst/>
          </a:prstGeom>
          <a:noFill/>
        </p:spPr>
        <p:txBody>
          <a:bodyPr wrap="none" anchor="t">
            <a:spAutoFit/>
          </a:bodyPr>
          <a:lstStyle/>
          <a:p>
            <a:pPr algn="r"/>
            <a:r>
              <a:rPr sz="650" b="0">
                <a:solidFill>
                  <a:srgbClr val="7D9AB0"/>
                </a:solidFill>
                <a:latin typeface="Aptos"/>
              </a:rPr>
              <a:t>EDITABLE TEMPLATE • Replace placeholders with your own data and findings</a:t>
            </a:r>
          </a:p>
        </p:txBody>
      </p:sp>
      <p:sp>
        <p:nvSpPr>
          <p:cNvPr id="59" name="TextBox 58"/>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pic>
        <p:nvPicPr>
          <p:cNvPr id="7" name="Picture 6" descr="A map of a city&#10;&#10;Description automatically generated">
            <a:extLst>
              <a:ext uri="{FF2B5EF4-FFF2-40B4-BE49-F238E27FC236}">
                <a16:creationId xmlns:a16="http://schemas.microsoft.com/office/drawing/2014/main" id="{45C636CC-5455-CE3E-1649-CE5417C0F039}"/>
              </a:ext>
            </a:extLst>
          </p:cNvPr>
          <p:cNvPicPr>
            <a:picLocks noChangeAspect="1"/>
          </p:cNvPicPr>
          <p:nvPr/>
        </p:nvPicPr>
        <p:blipFill>
          <a:blip r:embed="rId2"/>
          <a:stretch>
            <a:fillRect/>
          </a:stretch>
        </p:blipFill>
        <p:spPr>
          <a:xfrm>
            <a:off x="1" y="1062752"/>
            <a:ext cx="12192000" cy="3844560"/>
          </a:xfrm>
          <a:prstGeom prst="rect">
            <a:avLst/>
          </a:prstGeom>
        </p:spPr>
      </p:pic>
      <p:sp>
        <p:nvSpPr>
          <p:cNvPr id="9" name="TextBox 8">
            <a:extLst>
              <a:ext uri="{FF2B5EF4-FFF2-40B4-BE49-F238E27FC236}">
                <a16:creationId xmlns:a16="http://schemas.microsoft.com/office/drawing/2014/main" id="{8CE8E1A6-61E9-EA7B-6B6E-2C9B4A7C6B52}"/>
              </a:ext>
            </a:extLst>
          </p:cNvPr>
          <p:cNvSpPr txBox="1"/>
          <p:nvPr/>
        </p:nvSpPr>
        <p:spPr>
          <a:xfrm>
            <a:off x="1097280" y="5559552"/>
            <a:ext cx="10556456" cy="923330"/>
          </a:xfrm>
          <a:prstGeom prst="rect">
            <a:avLst/>
          </a:prstGeom>
          <a:noFill/>
        </p:spPr>
        <p:txBody>
          <a:bodyPr wrap="square" rtlCol="0">
            <a:spAutoFit/>
          </a:bodyPr>
          <a:lstStyle/>
          <a:p>
            <a:r>
              <a:rPr lang="en-US" dirty="0"/>
              <a:t>Of the </a:t>
            </a:r>
            <a:r>
              <a:rPr lang="en-US" b="1" dirty="0"/>
              <a:t>13 launches recorded at KSC LC-39A</a:t>
            </a:r>
            <a:r>
              <a:rPr lang="en-US" dirty="0"/>
              <a:t>, only </a:t>
            </a:r>
            <a:r>
              <a:rPr lang="en-US" b="1" dirty="0"/>
              <a:t>3 were unsuccessful</a:t>
            </a:r>
            <a:r>
              <a:rPr lang="en-US" dirty="0"/>
              <a:t>, meaning </a:t>
            </a:r>
            <a:r>
              <a:rPr lang="en-US" b="1" dirty="0"/>
              <a:t>10 launches were successful</a:t>
            </a:r>
            <a:r>
              <a:rPr lang="en-US" dirty="0"/>
              <a:t>. This corresponds to a </a:t>
            </a:r>
            <a:r>
              <a:rPr lang="en-US" b="1" dirty="0"/>
              <a:t>76.9% success rate</a:t>
            </a:r>
            <a:r>
              <a:rPr lang="en-US" dirty="0"/>
              <a:t>, indicating a relatively high proportion of successful missions at this launch site within the dataset.</a:t>
            </a:r>
          </a:p>
        </p:txBody>
      </p:sp>
    </p:spTree>
    <p:extLst>
      <p:ext uri="{BB962C8B-B14F-4D97-AF65-F5344CB8AC3E}">
        <p14:creationId xmlns:p14="http://schemas.microsoft.com/office/powerpoint/2010/main" val="3475153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78992"/>
          </a:xfrm>
          <a:prstGeom prst="rect">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sp>
        <p:nvSpPr>
          <p:cNvPr id="4" name="Rectangle 3"/>
          <p:cNvSpPr/>
          <p:nvPr/>
        </p:nvSpPr>
        <p:spPr>
          <a:xfrm>
            <a:off x="1097280" y="210312"/>
            <a:ext cx="22860" cy="640080"/>
          </a:xfrm>
          <a:prstGeom prst="rect">
            <a:avLst/>
          </a:prstGeom>
          <a:solidFill>
            <a:srgbClr val="55B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8710" y="259145"/>
            <a:ext cx="9843224" cy="938719"/>
          </a:xfrm>
          <a:prstGeom prst="rect">
            <a:avLst/>
          </a:prstGeom>
          <a:noFill/>
        </p:spPr>
        <p:txBody>
          <a:bodyPr wrap="square" anchor="t">
            <a:spAutoFit/>
          </a:bodyPr>
          <a:lstStyle/>
          <a:p>
            <a:r>
              <a:rPr lang="en-US" sz="2800" b="0" i="0" dirty="0">
                <a:solidFill>
                  <a:schemeClr val="bg2"/>
                </a:solidFill>
                <a:effectLst/>
                <a:latin typeface="system-ui"/>
              </a:rPr>
              <a:t>Task 2: Marked success/failed launches for KSC LC 39A</a:t>
            </a:r>
          </a:p>
          <a:p>
            <a:pPr algn="l"/>
            <a:endParaRPr sz="2700" b="1" dirty="0">
              <a:solidFill>
                <a:schemeClr val="bg2"/>
              </a:solidFill>
              <a:latin typeface="Aptos Display"/>
            </a:endParaRPr>
          </a:p>
        </p:txBody>
      </p:sp>
      <p:sp>
        <p:nvSpPr>
          <p:cNvPr id="18" name="Oval 17"/>
          <p:cNvSpPr/>
          <p:nvPr/>
        </p:nvSpPr>
        <p:spPr>
          <a:xfrm>
            <a:off x="475488" y="4169663"/>
            <a:ext cx="384048" cy="38404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64592" y="4956048"/>
            <a:ext cx="12026110" cy="1831816"/>
          </a:xfrm>
          <a:prstGeom prst="roundRect">
            <a:avLst/>
          </a:prstGeom>
          <a:solidFill>
            <a:srgbClr val="EAF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Oval 37"/>
          <p:cNvSpPr/>
          <p:nvPr/>
        </p:nvSpPr>
        <p:spPr>
          <a:xfrm>
            <a:off x="384048" y="5193792"/>
            <a:ext cx="566928" cy="566928"/>
          </a:xfrm>
          <a:prstGeom prst="ellipse">
            <a:avLst/>
          </a:prstGeom>
          <a:solidFill>
            <a:srgbClr val="073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4048" y="5303520"/>
            <a:ext cx="566928" cy="256032"/>
          </a:xfrm>
          <a:prstGeom prst="rect">
            <a:avLst/>
          </a:prstGeom>
          <a:noFill/>
        </p:spPr>
        <p:txBody>
          <a:bodyPr wrap="none" anchor="t">
            <a:spAutoFit/>
          </a:bodyPr>
          <a:lstStyle/>
          <a:p>
            <a:pPr algn="ctr"/>
            <a:r>
              <a:rPr sz="1700" b="1">
                <a:solidFill>
                  <a:srgbClr val="FFFFFF"/>
                </a:solidFill>
                <a:latin typeface="Aptos"/>
              </a:rPr>
              <a:t>✦</a:t>
            </a:r>
          </a:p>
        </p:txBody>
      </p:sp>
      <p:sp>
        <p:nvSpPr>
          <p:cNvPr id="40" name="TextBox 39"/>
          <p:cNvSpPr txBox="1"/>
          <p:nvPr/>
        </p:nvSpPr>
        <p:spPr>
          <a:xfrm>
            <a:off x="994225" y="5230368"/>
            <a:ext cx="1874519" cy="320040"/>
          </a:xfrm>
          <a:prstGeom prst="rect">
            <a:avLst/>
          </a:prstGeom>
          <a:noFill/>
        </p:spPr>
        <p:txBody>
          <a:bodyPr wrap="none" anchor="t">
            <a:spAutoFit/>
          </a:bodyPr>
          <a:lstStyle/>
          <a:p>
            <a:pPr algn="l"/>
            <a:r>
              <a:rPr sz="2000" b="1" dirty="0">
                <a:solidFill>
                  <a:srgbClr val="073A69"/>
                </a:solidFill>
                <a:latin typeface="Aptos Display"/>
              </a:rPr>
              <a:t>Key Takeaways</a:t>
            </a:r>
          </a:p>
        </p:txBody>
      </p:sp>
      <p:sp>
        <p:nvSpPr>
          <p:cNvPr id="58" name="TextBox 57"/>
          <p:cNvSpPr txBox="1"/>
          <p:nvPr/>
        </p:nvSpPr>
        <p:spPr>
          <a:xfrm>
            <a:off x="228600" y="6574536"/>
            <a:ext cx="11704320" cy="164592"/>
          </a:xfrm>
          <a:prstGeom prst="rect">
            <a:avLst/>
          </a:prstGeom>
          <a:noFill/>
        </p:spPr>
        <p:txBody>
          <a:bodyPr wrap="none" anchor="t">
            <a:spAutoFit/>
          </a:bodyPr>
          <a:lstStyle/>
          <a:p>
            <a:pPr algn="r"/>
            <a:r>
              <a:rPr sz="650" b="0">
                <a:solidFill>
                  <a:srgbClr val="7D9AB0"/>
                </a:solidFill>
                <a:latin typeface="Aptos"/>
              </a:rPr>
              <a:t>EDITABLE TEMPLATE • Replace placeholders with your own data and findings</a:t>
            </a:r>
          </a:p>
        </p:txBody>
      </p:sp>
      <p:sp>
        <p:nvSpPr>
          <p:cNvPr id="59" name="TextBox 58"/>
          <p:cNvSpPr txBox="1"/>
          <p:nvPr/>
        </p:nvSpPr>
        <p:spPr>
          <a:xfrm>
            <a:off x="320040" y="182880"/>
            <a:ext cx="594360" cy="594360"/>
          </a:xfrm>
          <a:prstGeom prst="rect">
            <a:avLst/>
          </a:prstGeom>
          <a:noFill/>
        </p:spPr>
        <p:txBody>
          <a:bodyPr wrap="none" anchor="ctr">
            <a:spAutoFit/>
          </a:bodyPr>
          <a:lstStyle/>
          <a:p>
            <a:pPr algn="ctr"/>
            <a:r>
              <a:rPr sz="2800" b="0">
                <a:solidFill>
                  <a:srgbClr val="FFFFFF"/>
                </a:solidFill>
                <a:latin typeface="Segoe UI Emoji"/>
              </a:rPr>
              <a:t>🚀</a:t>
            </a:r>
          </a:p>
        </p:txBody>
      </p:sp>
      <p:sp>
        <p:nvSpPr>
          <p:cNvPr id="9" name="TextBox 8">
            <a:extLst>
              <a:ext uri="{FF2B5EF4-FFF2-40B4-BE49-F238E27FC236}">
                <a16:creationId xmlns:a16="http://schemas.microsoft.com/office/drawing/2014/main" id="{8CE8E1A6-61E9-EA7B-6B6E-2C9B4A7C6B52}"/>
              </a:ext>
            </a:extLst>
          </p:cNvPr>
          <p:cNvSpPr txBox="1"/>
          <p:nvPr/>
        </p:nvSpPr>
        <p:spPr>
          <a:xfrm>
            <a:off x="1097280" y="5559552"/>
            <a:ext cx="10556456" cy="923330"/>
          </a:xfrm>
          <a:prstGeom prst="rect">
            <a:avLst/>
          </a:prstGeom>
          <a:noFill/>
        </p:spPr>
        <p:txBody>
          <a:bodyPr wrap="square" rtlCol="0">
            <a:spAutoFit/>
          </a:bodyPr>
          <a:lstStyle/>
          <a:p>
            <a:r>
              <a:rPr lang="en-US" dirty="0"/>
              <a:t>Of the </a:t>
            </a:r>
            <a:r>
              <a:rPr lang="en-US" b="1" dirty="0"/>
              <a:t>10 launches recorded at VAFB SLC-4E in Los Angeles</a:t>
            </a:r>
            <a:r>
              <a:rPr lang="en-US" dirty="0"/>
              <a:t>, </a:t>
            </a:r>
            <a:r>
              <a:rPr lang="en-US" b="1" dirty="0"/>
              <a:t>4 were successful</a:t>
            </a:r>
            <a:r>
              <a:rPr lang="en-US" dirty="0"/>
              <a:t>, resulting in a </a:t>
            </a:r>
            <a:r>
              <a:rPr lang="en-US" b="1" dirty="0"/>
              <a:t>40% success rate</a:t>
            </a:r>
            <a:r>
              <a:rPr lang="en-US" dirty="0"/>
              <a:t>. The data therefore shows that </a:t>
            </a:r>
            <a:r>
              <a:rPr lang="en-US" b="1" dirty="0"/>
              <a:t>less than half of the launches at this site were successful</a:t>
            </a:r>
            <a:r>
              <a:rPr lang="en-US" dirty="0"/>
              <a:t> within the dataset.</a:t>
            </a:r>
          </a:p>
        </p:txBody>
      </p:sp>
      <p:pic>
        <p:nvPicPr>
          <p:cNvPr id="8" name="Picture 7" descr="A map with a circle with points on it&#10;&#10;Description automatically generated">
            <a:extLst>
              <a:ext uri="{FF2B5EF4-FFF2-40B4-BE49-F238E27FC236}">
                <a16:creationId xmlns:a16="http://schemas.microsoft.com/office/drawing/2014/main" id="{41E76119-E8BB-1CEB-DF3B-A259D7AB58C2}"/>
              </a:ext>
            </a:extLst>
          </p:cNvPr>
          <p:cNvPicPr>
            <a:picLocks noChangeAspect="1"/>
          </p:cNvPicPr>
          <p:nvPr/>
        </p:nvPicPr>
        <p:blipFill>
          <a:blip r:embed="rId2"/>
          <a:stretch>
            <a:fillRect/>
          </a:stretch>
        </p:blipFill>
        <p:spPr>
          <a:xfrm>
            <a:off x="1" y="1078993"/>
            <a:ext cx="12190702" cy="3877056"/>
          </a:xfrm>
          <a:prstGeom prst="rect">
            <a:avLst/>
          </a:prstGeom>
        </p:spPr>
      </p:pic>
    </p:spTree>
    <p:extLst>
      <p:ext uri="{BB962C8B-B14F-4D97-AF65-F5344CB8AC3E}">
        <p14:creationId xmlns:p14="http://schemas.microsoft.com/office/powerpoint/2010/main" val="99393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11155680" cy="411480"/>
          </a:xfrm>
          <a:prstGeom prst="rect">
            <a:avLst/>
          </a:prstGeom>
          <a:noFill/>
        </p:spPr>
        <p:txBody>
          <a:bodyPr wrap="square">
            <a:spAutoFit/>
          </a:bodyPr>
          <a:lstStyle/>
          <a:p>
            <a:pPr>
              <a:defRPr sz="2700" b="1">
                <a:solidFill>
                  <a:srgbClr val="FFFFFF"/>
                </a:solidFill>
                <a:latin typeface="Aptos Display"/>
              </a:defRPr>
            </a:pPr>
            <a:r>
              <a:t>Launch Success Analysis</a:t>
            </a:r>
          </a:p>
        </p:txBody>
      </p:sp>
      <p:sp>
        <p:nvSpPr>
          <p:cNvPr id="4" name="TextBox 3"/>
          <p:cNvSpPr txBox="1"/>
          <p:nvPr/>
        </p:nvSpPr>
        <p:spPr>
          <a:xfrm>
            <a:off x="530352" y="612648"/>
            <a:ext cx="10972800" cy="219456"/>
          </a:xfrm>
          <a:prstGeom prst="rect">
            <a:avLst/>
          </a:prstGeom>
          <a:noFill/>
        </p:spPr>
        <p:txBody>
          <a:bodyPr wrap="square">
            <a:spAutoFit/>
          </a:bodyPr>
          <a:lstStyle/>
          <a:p>
            <a:pPr>
              <a:defRPr sz="1050" b="0">
                <a:solidFill>
                  <a:srgbClr val="CADAEE"/>
                </a:solidFill>
                <a:latin typeface="Aptos"/>
              </a:defRPr>
            </a:pPr>
            <a:r>
              <a:t>Summary of launch performance by site, payload range, and Falcon 9 booster version</a:t>
            </a:r>
          </a:p>
        </p:txBody>
      </p:sp>
      <p:sp>
        <p:nvSpPr>
          <p:cNvPr id="5" name="Rounded Rectangle 4"/>
          <p:cNvSpPr/>
          <p:nvPr/>
        </p:nvSpPr>
        <p:spPr>
          <a:xfrm>
            <a:off x="502920" y="1207008"/>
            <a:ext cx="5440680"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07008"/>
            <a:ext cx="82296" cy="1965960"/>
          </a:xfrm>
          <a:prstGeom prst="rect">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85800" y="1371600"/>
            <a:ext cx="365760" cy="365760"/>
          </a:xfrm>
          <a:prstGeom prst="ellipse">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8" name="TextBox 7"/>
          <p:cNvSpPr txBox="1"/>
          <p:nvPr/>
        </p:nvSpPr>
        <p:spPr>
          <a:xfrm>
            <a:off x="1161288" y="1353312"/>
            <a:ext cx="4572000" cy="274320"/>
          </a:xfrm>
          <a:prstGeom prst="rect">
            <a:avLst/>
          </a:prstGeom>
          <a:noFill/>
        </p:spPr>
        <p:txBody>
          <a:bodyPr wrap="square">
            <a:spAutoFit/>
          </a:bodyPr>
          <a:lstStyle/>
          <a:p>
            <a:pPr>
              <a:defRPr sz="1250" b="1">
                <a:solidFill>
                  <a:srgbClr val="0D1F3A"/>
                </a:solidFill>
                <a:latin typeface="Aptos"/>
              </a:defRPr>
            </a:pPr>
            <a:r>
              <a:t>Largest share of successful launches</a:t>
            </a:r>
          </a:p>
        </p:txBody>
      </p:sp>
      <p:sp>
        <p:nvSpPr>
          <p:cNvPr id="9" name="TextBox 8"/>
          <p:cNvSpPr txBox="1"/>
          <p:nvPr/>
        </p:nvSpPr>
        <p:spPr>
          <a:xfrm>
            <a:off x="722376" y="1865376"/>
            <a:ext cx="5029200" cy="384048"/>
          </a:xfrm>
          <a:prstGeom prst="rect">
            <a:avLst/>
          </a:prstGeom>
          <a:noFill/>
        </p:spPr>
        <p:txBody>
          <a:bodyPr wrap="square">
            <a:spAutoFit/>
          </a:bodyPr>
          <a:lstStyle/>
          <a:p>
            <a:pPr>
              <a:defRPr sz="2100" b="1">
                <a:solidFill>
                  <a:srgbClr val="2A5BA0"/>
                </a:solidFill>
                <a:latin typeface="Aptos Display"/>
              </a:defRPr>
            </a:pPr>
            <a:r>
              <a:t>KSC LC-39A — 41.7%</a:t>
            </a:r>
          </a:p>
        </p:txBody>
      </p:sp>
      <p:sp>
        <p:nvSpPr>
          <p:cNvPr id="10" name="TextBox 9"/>
          <p:cNvSpPr txBox="1"/>
          <p:nvPr/>
        </p:nvSpPr>
        <p:spPr>
          <a:xfrm>
            <a:off x="722376" y="2304288"/>
            <a:ext cx="5029200" cy="731519"/>
          </a:xfrm>
          <a:prstGeom prst="rect">
            <a:avLst/>
          </a:prstGeom>
          <a:noFill/>
        </p:spPr>
        <p:txBody>
          <a:bodyPr wrap="square">
            <a:spAutoFit/>
          </a:bodyPr>
          <a:lstStyle/>
          <a:p>
            <a:pPr>
              <a:defRPr sz="969" b="0">
                <a:solidFill>
                  <a:srgbClr val="5F6C7D"/>
                </a:solidFill>
                <a:latin typeface="Aptos"/>
              </a:defRPr>
            </a:pPr>
            <a:r>
              <a:t>KSC LC-39A accounted for the largest proportion of successful launches, followed by CCAFS LC-40 at 29.2%.</a:t>
            </a:r>
          </a:p>
        </p:txBody>
      </p:sp>
      <p:sp>
        <p:nvSpPr>
          <p:cNvPr id="11" name="Rounded Rectangle 10"/>
          <p:cNvSpPr/>
          <p:nvPr/>
        </p:nvSpPr>
        <p:spPr>
          <a:xfrm>
            <a:off x="6236208" y="1207008"/>
            <a:ext cx="5440680"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6208" y="1207008"/>
            <a:ext cx="82296" cy="19659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19088" y="1371600"/>
            <a:ext cx="365760" cy="36576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14" name="TextBox 13"/>
          <p:cNvSpPr txBox="1"/>
          <p:nvPr/>
        </p:nvSpPr>
        <p:spPr>
          <a:xfrm>
            <a:off x="6894576" y="1353312"/>
            <a:ext cx="4572000" cy="274320"/>
          </a:xfrm>
          <a:prstGeom prst="rect">
            <a:avLst/>
          </a:prstGeom>
          <a:noFill/>
        </p:spPr>
        <p:txBody>
          <a:bodyPr wrap="square">
            <a:spAutoFit/>
          </a:bodyPr>
          <a:lstStyle/>
          <a:p>
            <a:pPr>
              <a:defRPr sz="1250" b="1">
                <a:solidFill>
                  <a:srgbClr val="0D1F3A"/>
                </a:solidFill>
                <a:latin typeface="Aptos"/>
              </a:defRPr>
            </a:pPr>
            <a:r>
              <a:t>Highest launch success rate</a:t>
            </a:r>
          </a:p>
        </p:txBody>
      </p:sp>
      <p:sp>
        <p:nvSpPr>
          <p:cNvPr id="15" name="TextBox 14"/>
          <p:cNvSpPr txBox="1"/>
          <p:nvPr/>
        </p:nvSpPr>
        <p:spPr>
          <a:xfrm>
            <a:off x="6455664" y="1865376"/>
            <a:ext cx="5029200" cy="384048"/>
          </a:xfrm>
          <a:prstGeom prst="rect">
            <a:avLst/>
          </a:prstGeom>
          <a:noFill/>
        </p:spPr>
        <p:txBody>
          <a:bodyPr wrap="square">
            <a:spAutoFit/>
          </a:bodyPr>
          <a:lstStyle/>
          <a:p>
            <a:pPr>
              <a:defRPr sz="2100" b="1">
                <a:solidFill>
                  <a:srgbClr val="009688"/>
                </a:solidFill>
                <a:latin typeface="Aptos Display"/>
              </a:defRPr>
            </a:pPr>
            <a:r>
              <a:t>KSC LC-39A — 76.9%</a:t>
            </a:r>
          </a:p>
        </p:txBody>
      </p:sp>
      <p:sp>
        <p:nvSpPr>
          <p:cNvPr id="16" name="TextBox 15"/>
          <p:cNvSpPr txBox="1"/>
          <p:nvPr/>
        </p:nvSpPr>
        <p:spPr>
          <a:xfrm>
            <a:off x="6455664" y="2304288"/>
            <a:ext cx="5029200" cy="731519"/>
          </a:xfrm>
          <a:prstGeom prst="rect">
            <a:avLst/>
          </a:prstGeom>
          <a:noFill/>
        </p:spPr>
        <p:txBody>
          <a:bodyPr wrap="square">
            <a:spAutoFit/>
          </a:bodyPr>
          <a:lstStyle/>
          <a:p>
            <a:pPr>
              <a:defRPr sz="969" b="0">
                <a:solidFill>
                  <a:srgbClr val="5F6C7D"/>
                </a:solidFill>
                <a:latin typeface="Aptos"/>
              </a:defRPr>
            </a:pPr>
            <a:r>
              <a:t>10 of 13 launches at KSC LC-39A were successful, producing the highest site-level success rate in the dataset.</a:t>
            </a:r>
          </a:p>
        </p:txBody>
      </p:sp>
      <p:sp>
        <p:nvSpPr>
          <p:cNvPr id="17" name="Rounded Rectangle 16"/>
          <p:cNvSpPr/>
          <p:nvPr/>
        </p:nvSpPr>
        <p:spPr>
          <a:xfrm>
            <a:off x="502920" y="3401568"/>
            <a:ext cx="5440680"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401568"/>
            <a:ext cx="82296" cy="1965960"/>
          </a:xfrm>
          <a:prstGeom prst="rect">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85800" y="3566160"/>
            <a:ext cx="365760" cy="365760"/>
          </a:xfrm>
          <a:prstGeom prst="ellipse">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20" name="TextBox 19"/>
          <p:cNvSpPr txBox="1"/>
          <p:nvPr/>
        </p:nvSpPr>
        <p:spPr>
          <a:xfrm>
            <a:off x="1161288" y="3547872"/>
            <a:ext cx="4572000" cy="274320"/>
          </a:xfrm>
          <a:prstGeom prst="rect">
            <a:avLst/>
          </a:prstGeom>
          <a:noFill/>
        </p:spPr>
        <p:txBody>
          <a:bodyPr wrap="square">
            <a:spAutoFit/>
          </a:bodyPr>
          <a:lstStyle/>
          <a:p>
            <a:pPr>
              <a:defRPr sz="1250" b="1">
                <a:solidFill>
                  <a:srgbClr val="0D1F3A"/>
                </a:solidFill>
                <a:latin typeface="Aptos"/>
              </a:defRPr>
            </a:pPr>
            <a:r>
              <a:t>Payload range with highest success</a:t>
            </a:r>
          </a:p>
        </p:txBody>
      </p:sp>
      <p:sp>
        <p:nvSpPr>
          <p:cNvPr id="21" name="TextBox 20"/>
          <p:cNvSpPr txBox="1"/>
          <p:nvPr/>
        </p:nvSpPr>
        <p:spPr>
          <a:xfrm>
            <a:off x="722376" y="4059936"/>
            <a:ext cx="5029200" cy="384048"/>
          </a:xfrm>
          <a:prstGeom prst="rect">
            <a:avLst/>
          </a:prstGeom>
          <a:noFill/>
        </p:spPr>
        <p:txBody>
          <a:bodyPr wrap="square">
            <a:spAutoFit/>
          </a:bodyPr>
          <a:lstStyle/>
          <a:p>
            <a:pPr>
              <a:defRPr sz="2100" b="1">
                <a:solidFill>
                  <a:srgbClr val="DE9D2D"/>
                </a:solidFill>
                <a:latin typeface="Aptos Display"/>
              </a:defRPr>
            </a:pPr>
            <a:r>
              <a:t>0–6,000 kg</a:t>
            </a:r>
          </a:p>
        </p:txBody>
      </p:sp>
      <p:sp>
        <p:nvSpPr>
          <p:cNvPr id="22" name="TextBox 21"/>
          <p:cNvSpPr txBox="1"/>
          <p:nvPr/>
        </p:nvSpPr>
        <p:spPr>
          <a:xfrm>
            <a:off x="722376" y="4498848"/>
            <a:ext cx="5029200" cy="731519"/>
          </a:xfrm>
          <a:prstGeom prst="rect">
            <a:avLst/>
          </a:prstGeom>
          <a:noFill/>
        </p:spPr>
        <p:txBody>
          <a:bodyPr wrap="square">
            <a:spAutoFit/>
          </a:bodyPr>
          <a:lstStyle/>
          <a:p>
            <a:pPr>
              <a:defRPr sz="969" b="0">
                <a:solidFill>
                  <a:srgbClr val="5F6C7D"/>
                </a:solidFill>
                <a:latin typeface="Aptos"/>
              </a:defRPr>
            </a:pPr>
            <a:r>
              <a:t>The displayed payload analysis indicates stronger successful-launch representation within the 0–6,000 kg range.</a:t>
            </a:r>
          </a:p>
        </p:txBody>
      </p:sp>
      <p:sp>
        <p:nvSpPr>
          <p:cNvPr id="23" name="Rounded Rectangle 22"/>
          <p:cNvSpPr/>
          <p:nvPr/>
        </p:nvSpPr>
        <p:spPr>
          <a:xfrm>
            <a:off x="6236208" y="3401568"/>
            <a:ext cx="5440680" cy="19659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36208" y="3401568"/>
            <a:ext cx="82296" cy="1965960"/>
          </a:xfrm>
          <a:prstGeom prst="rect">
            <a:avLst/>
          </a:prstGeom>
          <a:solidFill>
            <a:srgbClr val="C2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419088" y="3566160"/>
            <a:ext cx="365760" cy="365760"/>
          </a:xfrm>
          <a:prstGeom prst="ellipse">
            <a:avLst/>
          </a:prstGeom>
          <a:solidFill>
            <a:srgbClr val="C2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26" name="TextBox 25"/>
          <p:cNvSpPr txBox="1"/>
          <p:nvPr/>
        </p:nvSpPr>
        <p:spPr>
          <a:xfrm>
            <a:off x="6894576" y="3547872"/>
            <a:ext cx="4572000" cy="274320"/>
          </a:xfrm>
          <a:prstGeom prst="rect">
            <a:avLst/>
          </a:prstGeom>
          <a:noFill/>
        </p:spPr>
        <p:txBody>
          <a:bodyPr wrap="square">
            <a:spAutoFit/>
          </a:bodyPr>
          <a:lstStyle/>
          <a:p>
            <a:pPr>
              <a:defRPr sz="1250" b="1">
                <a:solidFill>
                  <a:srgbClr val="0D1F3A"/>
                </a:solidFill>
                <a:latin typeface="Aptos"/>
              </a:defRPr>
            </a:pPr>
            <a:r>
              <a:t>Payload range with lowest success</a:t>
            </a:r>
          </a:p>
        </p:txBody>
      </p:sp>
      <p:sp>
        <p:nvSpPr>
          <p:cNvPr id="27" name="TextBox 26"/>
          <p:cNvSpPr txBox="1"/>
          <p:nvPr/>
        </p:nvSpPr>
        <p:spPr>
          <a:xfrm>
            <a:off x="6455664" y="4059936"/>
            <a:ext cx="5029200" cy="384048"/>
          </a:xfrm>
          <a:prstGeom prst="rect">
            <a:avLst/>
          </a:prstGeom>
          <a:noFill/>
        </p:spPr>
        <p:txBody>
          <a:bodyPr wrap="square">
            <a:spAutoFit/>
          </a:bodyPr>
          <a:lstStyle/>
          <a:p>
            <a:pPr>
              <a:defRPr sz="2100" b="1">
                <a:solidFill>
                  <a:srgbClr val="C24343"/>
                </a:solidFill>
                <a:latin typeface="Aptos Display"/>
              </a:defRPr>
            </a:pPr>
            <a:r>
              <a:t>5,000–9,000 kg</a:t>
            </a:r>
          </a:p>
        </p:txBody>
      </p:sp>
      <p:sp>
        <p:nvSpPr>
          <p:cNvPr id="28" name="TextBox 27"/>
          <p:cNvSpPr txBox="1"/>
          <p:nvPr/>
        </p:nvSpPr>
        <p:spPr>
          <a:xfrm>
            <a:off x="6455664" y="4498848"/>
            <a:ext cx="5029200" cy="731519"/>
          </a:xfrm>
          <a:prstGeom prst="rect">
            <a:avLst/>
          </a:prstGeom>
          <a:noFill/>
        </p:spPr>
        <p:txBody>
          <a:bodyPr wrap="square">
            <a:spAutoFit/>
          </a:bodyPr>
          <a:lstStyle/>
          <a:p>
            <a:pPr>
              <a:defRPr sz="969" b="0">
                <a:solidFill>
                  <a:srgbClr val="5F6C7D"/>
                </a:solidFill>
                <a:latin typeface="Aptos"/>
              </a:defRPr>
            </a:pPr>
            <a:r>
              <a:t>The displayed comparison shows comparatively weaker launch outcomes within the 5,000–9,000 kg range.</a:t>
            </a:r>
          </a:p>
        </p:txBody>
      </p:sp>
      <p:sp>
        <p:nvSpPr>
          <p:cNvPr id="29" name="Rounded Rectangle 28"/>
          <p:cNvSpPr/>
          <p:nvPr/>
        </p:nvSpPr>
        <p:spPr>
          <a:xfrm>
            <a:off x="502920" y="5623560"/>
            <a:ext cx="11173968" cy="621792"/>
          </a:xfrm>
          <a:prstGeom prst="roundRect">
            <a:avLst/>
          </a:prstGeom>
          <a:solidFill>
            <a:srgbClr val="E8F0FA"/>
          </a:solidFill>
          <a:ln>
            <a:solidFill>
              <a:srgbClr val="BFD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9808" y="5751576"/>
            <a:ext cx="10698480" cy="292608"/>
          </a:xfrm>
          <a:prstGeom prst="rect">
            <a:avLst/>
          </a:prstGeom>
          <a:noFill/>
        </p:spPr>
        <p:txBody>
          <a:bodyPr wrap="square">
            <a:spAutoFit/>
          </a:bodyPr>
          <a:lstStyle/>
          <a:p>
            <a:pPr>
              <a:defRPr sz="1250" b="1">
                <a:solidFill>
                  <a:srgbClr val="0D1F3A"/>
                </a:solidFill>
                <a:latin typeface="Aptos"/>
              </a:defRPr>
            </a:pPr>
            <a:r>
              <a:t>5  |  Highest-performing booster version: FT — the strongest launch success performance among the displayed booster categories.</a:t>
            </a:r>
          </a:p>
        </p:txBody>
      </p:sp>
      <p:sp>
        <p:nvSpPr>
          <p:cNvPr id="31" name="TextBox 30"/>
          <p:cNvSpPr txBox="1"/>
          <p:nvPr/>
        </p:nvSpPr>
        <p:spPr>
          <a:xfrm>
            <a:off x="548640" y="6556248"/>
            <a:ext cx="10972800" cy="164592"/>
          </a:xfrm>
          <a:prstGeom prst="rect">
            <a:avLst/>
          </a:prstGeom>
          <a:noFill/>
        </p:spPr>
        <p:txBody>
          <a:bodyPr wrap="square">
            <a:spAutoFit/>
          </a:bodyPr>
          <a:lstStyle/>
          <a:p>
            <a:pPr algn="r">
              <a:defRPr sz="850" b="0">
                <a:solidFill>
                  <a:srgbClr val="5F6C7D"/>
                </a:solidFill>
                <a:latin typeface="Aptos"/>
              </a:defRPr>
            </a:pPr>
            <a:r>
              <a:t>Source: SpaceX launch records dataset | Findings based on the interactive Dash dashboard</a:t>
            </a:r>
          </a:p>
        </p:txBody>
      </p:sp>
    </p:spTree>
    <p:extLst>
      <p:ext uri="{BB962C8B-B14F-4D97-AF65-F5344CB8AC3E}">
        <p14:creationId xmlns:p14="http://schemas.microsoft.com/office/powerpoint/2010/main" val="2370818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11155680" cy="411480"/>
          </a:xfrm>
          <a:prstGeom prst="rect">
            <a:avLst/>
          </a:prstGeom>
          <a:noFill/>
        </p:spPr>
        <p:txBody>
          <a:bodyPr wrap="square">
            <a:spAutoFit/>
          </a:bodyPr>
          <a:lstStyle/>
          <a:p>
            <a:pPr>
              <a:defRPr sz="2700" b="1">
                <a:solidFill>
                  <a:srgbClr val="FFFFFF"/>
                </a:solidFill>
                <a:latin typeface="Aptos Display"/>
              </a:defRPr>
            </a:pPr>
            <a:r>
              <a:t>Supporting Charts: Launch Site Performance</a:t>
            </a:r>
          </a:p>
        </p:txBody>
      </p:sp>
      <p:sp>
        <p:nvSpPr>
          <p:cNvPr id="4" name="TextBox 3"/>
          <p:cNvSpPr txBox="1"/>
          <p:nvPr/>
        </p:nvSpPr>
        <p:spPr>
          <a:xfrm>
            <a:off x="530352" y="612648"/>
            <a:ext cx="10972800" cy="219456"/>
          </a:xfrm>
          <a:prstGeom prst="rect">
            <a:avLst/>
          </a:prstGeom>
          <a:noFill/>
        </p:spPr>
        <p:txBody>
          <a:bodyPr wrap="square">
            <a:spAutoFit/>
          </a:bodyPr>
          <a:lstStyle/>
          <a:p>
            <a:pPr>
              <a:defRPr sz="1050" b="0">
                <a:solidFill>
                  <a:srgbClr val="CADAEE"/>
                </a:solidFill>
                <a:latin typeface="Aptos"/>
              </a:defRPr>
            </a:pPr>
            <a:r>
              <a:t>Dashboard visualizations supporting the site-level findings</a:t>
            </a:r>
          </a:p>
        </p:txBody>
      </p:sp>
      <p:pic>
        <p:nvPicPr>
          <p:cNvPr id="5" name="Picture 4" descr="Screenshot 2026-09-19 125509.png"/>
          <p:cNvPicPr>
            <a:picLocks noChangeAspect="1"/>
          </p:cNvPicPr>
          <p:nvPr/>
        </p:nvPicPr>
        <p:blipFill>
          <a:blip r:embed="rId2"/>
          <a:stretch>
            <a:fillRect/>
          </a:stretch>
        </p:blipFill>
        <p:spPr>
          <a:xfrm>
            <a:off x="320040" y="1143000"/>
            <a:ext cx="5715000" cy="1847088"/>
          </a:xfrm>
          <a:prstGeom prst="rect">
            <a:avLst/>
          </a:prstGeom>
        </p:spPr>
      </p:pic>
      <p:pic>
        <p:nvPicPr>
          <p:cNvPr id="6" name="Picture 5" descr="Screenshot 2026-09-19 125622.png"/>
          <p:cNvPicPr>
            <a:picLocks noChangeAspect="1"/>
          </p:cNvPicPr>
          <p:nvPr/>
        </p:nvPicPr>
        <p:blipFill>
          <a:blip r:embed="rId3"/>
          <a:stretch>
            <a:fillRect/>
          </a:stretch>
        </p:blipFill>
        <p:spPr>
          <a:xfrm>
            <a:off x="6144768" y="1143000"/>
            <a:ext cx="5715000" cy="1847088"/>
          </a:xfrm>
          <a:prstGeom prst="rect">
            <a:avLst/>
          </a:prstGeom>
        </p:spPr>
      </p:pic>
      <p:sp>
        <p:nvSpPr>
          <p:cNvPr id="7" name="TextBox 6"/>
          <p:cNvSpPr txBox="1"/>
          <p:nvPr/>
        </p:nvSpPr>
        <p:spPr>
          <a:xfrm>
            <a:off x="502920" y="3063240"/>
            <a:ext cx="5394960" cy="292608"/>
          </a:xfrm>
          <a:prstGeom prst="rect">
            <a:avLst/>
          </a:prstGeom>
          <a:noFill/>
        </p:spPr>
        <p:txBody>
          <a:bodyPr wrap="square">
            <a:spAutoFit/>
          </a:bodyPr>
          <a:lstStyle/>
          <a:p>
            <a:pPr>
              <a:defRPr sz="1300" b="1">
                <a:solidFill>
                  <a:srgbClr val="0D1F3A"/>
                </a:solidFill>
                <a:latin typeface="Aptos"/>
              </a:defRPr>
            </a:pPr>
            <a:r>
              <a:t>Successful launches by site</a:t>
            </a:r>
          </a:p>
        </p:txBody>
      </p:sp>
      <p:sp>
        <p:nvSpPr>
          <p:cNvPr id="8" name="TextBox 7"/>
          <p:cNvSpPr txBox="1"/>
          <p:nvPr/>
        </p:nvSpPr>
        <p:spPr>
          <a:xfrm>
            <a:off x="6327648" y="3063240"/>
            <a:ext cx="5394960" cy="292608"/>
          </a:xfrm>
          <a:prstGeom prst="rect">
            <a:avLst/>
          </a:prstGeom>
          <a:noFill/>
        </p:spPr>
        <p:txBody>
          <a:bodyPr wrap="square">
            <a:spAutoFit/>
          </a:bodyPr>
          <a:lstStyle/>
          <a:p>
            <a:pPr>
              <a:defRPr sz="1300" b="1">
                <a:solidFill>
                  <a:srgbClr val="0D1F3A"/>
                </a:solidFill>
                <a:latin typeface="Aptos"/>
              </a:defRPr>
            </a:pPr>
            <a:r>
              <a:t>KSC LC-39A: 76.9% success rate</a:t>
            </a:r>
          </a:p>
        </p:txBody>
      </p:sp>
      <p:sp>
        <p:nvSpPr>
          <p:cNvPr id="9" name="Rounded Rectangle 8"/>
          <p:cNvSpPr/>
          <p:nvPr/>
        </p:nvSpPr>
        <p:spPr>
          <a:xfrm>
            <a:off x="502920" y="3703320"/>
            <a:ext cx="11173968" cy="20574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3913632"/>
            <a:ext cx="10607040" cy="274320"/>
          </a:xfrm>
          <a:prstGeom prst="rect">
            <a:avLst/>
          </a:prstGeom>
          <a:noFill/>
        </p:spPr>
        <p:txBody>
          <a:bodyPr wrap="square">
            <a:spAutoFit/>
          </a:bodyPr>
          <a:lstStyle/>
          <a:p>
            <a:pPr>
              <a:defRPr sz="1500" b="1">
                <a:solidFill>
                  <a:srgbClr val="0D1F3A"/>
                </a:solidFill>
                <a:latin typeface="Aptos"/>
              </a:defRPr>
            </a:pPr>
            <a:r>
              <a:t>Interpretation</a:t>
            </a:r>
          </a:p>
        </p:txBody>
      </p:sp>
      <p:sp>
        <p:nvSpPr>
          <p:cNvPr id="11" name="TextBox 10"/>
          <p:cNvSpPr txBox="1"/>
          <p:nvPr/>
        </p:nvSpPr>
        <p:spPr>
          <a:xfrm>
            <a:off x="749808" y="4315968"/>
            <a:ext cx="10515600" cy="1097280"/>
          </a:xfrm>
          <a:prstGeom prst="rect">
            <a:avLst/>
          </a:prstGeom>
          <a:noFill/>
        </p:spPr>
        <p:txBody>
          <a:bodyPr wrap="square">
            <a:spAutoFit/>
          </a:bodyPr>
          <a:lstStyle/>
          <a:p>
            <a:pPr>
              <a:defRPr sz="1400" b="0">
                <a:solidFill>
                  <a:srgbClr val="5F6C7D"/>
                </a:solidFill>
                <a:latin typeface="Aptos"/>
              </a:defRPr>
            </a:pPr>
            <a:r>
              <a:t>KSC LC-39A leads both in the share of successful launches and in overall launch success rate. The site contributed 41.7% of successful launches and achieved a 76.9% success rate, based on 10 successful launches out of 13 recorded missions.</a:t>
            </a:r>
          </a:p>
        </p:txBody>
      </p:sp>
      <p:sp>
        <p:nvSpPr>
          <p:cNvPr id="12" name="TextBox 11"/>
          <p:cNvSpPr txBox="1"/>
          <p:nvPr/>
        </p:nvSpPr>
        <p:spPr>
          <a:xfrm>
            <a:off x="548640" y="6556248"/>
            <a:ext cx="10972800" cy="164592"/>
          </a:xfrm>
          <a:prstGeom prst="rect">
            <a:avLst/>
          </a:prstGeom>
          <a:noFill/>
        </p:spPr>
        <p:txBody>
          <a:bodyPr wrap="square">
            <a:spAutoFit/>
          </a:bodyPr>
          <a:lstStyle/>
          <a:p>
            <a:pPr algn="r">
              <a:defRPr sz="850" b="0">
                <a:solidFill>
                  <a:srgbClr val="5F6C7D"/>
                </a:solidFill>
                <a:latin typeface="Aptos"/>
              </a:defRPr>
            </a:pPr>
            <a:r>
              <a:t>Source: SpaceX launch records dataset | Findings based on the interactive Dash dashboard</a:t>
            </a:r>
          </a:p>
        </p:txBody>
      </p:sp>
    </p:spTree>
    <p:extLst>
      <p:ext uri="{BB962C8B-B14F-4D97-AF65-F5344CB8AC3E}">
        <p14:creationId xmlns:p14="http://schemas.microsoft.com/office/powerpoint/2010/main" val="645832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11155680" cy="411480"/>
          </a:xfrm>
          <a:prstGeom prst="rect">
            <a:avLst/>
          </a:prstGeom>
          <a:noFill/>
        </p:spPr>
        <p:txBody>
          <a:bodyPr wrap="square">
            <a:spAutoFit/>
          </a:bodyPr>
          <a:lstStyle/>
          <a:p>
            <a:pPr>
              <a:defRPr sz="2700" b="1">
                <a:solidFill>
                  <a:srgbClr val="FFFFFF"/>
                </a:solidFill>
                <a:latin typeface="Aptos Display"/>
              </a:defRPr>
            </a:pPr>
            <a:r>
              <a:t>Supporting Charts: Payload and Booster Performance</a:t>
            </a:r>
          </a:p>
        </p:txBody>
      </p:sp>
      <p:sp>
        <p:nvSpPr>
          <p:cNvPr id="4" name="TextBox 3"/>
          <p:cNvSpPr txBox="1"/>
          <p:nvPr/>
        </p:nvSpPr>
        <p:spPr>
          <a:xfrm>
            <a:off x="530352" y="612648"/>
            <a:ext cx="10972800" cy="219456"/>
          </a:xfrm>
          <a:prstGeom prst="rect">
            <a:avLst/>
          </a:prstGeom>
          <a:noFill/>
        </p:spPr>
        <p:txBody>
          <a:bodyPr wrap="square">
            <a:spAutoFit/>
          </a:bodyPr>
          <a:lstStyle/>
          <a:p>
            <a:pPr>
              <a:defRPr sz="1050" b="0">
                <a:solidFill>
                  <a:srgbClr val="CADAEE"/>
                </a:solidFill>
                <a:latin typeface="Aptos"/>
              </a:defRPr>
            </a:pPr>
            <a:r>
              <a:t>Payload-range filters and booster-version outcomes from the Dash dashboard</a:t>
            </a:r>
          </a:p>
        </p:txBody>
      </p:sp>
      <p:pic>
        <p:nvPicPr>
          <p:cNvPr id="5" name="Picture 4" descr="Screenshot 2026-09-19 130149.png"/>
          <p:cNvPicPr>
            <a:picLocks noChangeAspect="1"/>
          </p:cNvPicPr>
          <p:nvPr/>
        </p:nvPicPr>
        <p:blipFill>
          <a:blip r:embed="rId2"/>
          <a:stretch>
            <a:fillRect/>
          </a:stretch>
        </p:blipFill>
        <p:spPr>
          <a:xfrm>
            <a:off x="228600" y="1143000"/>
            <a:ext cx="3794760" cy="2084831"/>
          </a:xfrm>
          <a:prstGeom prst="rect">
            <a:avLst/>
          </a:prstGeom>
        </p:spPr>
      </p:pic>
      <p:pic>
        <p:nvPicPr>
          <p:cNvPr id="6" name="Picture 5" descr="Screenshot 2026-09-19 130310.png"/>
          <p:cNvPicPr>
            <a:picLocks noChangeAspect="1"/>
          </p:cNvPicPr>
          <p:nvPr/>
        </p:nvPicPr>
        <p:blipFill>
          <a:blip r:embed="rId3"/>
          <a:stretch>
            <a:fillRect/>
          </a:stretch>
        </p:blipFill>
        <p:spPr>
          <a:xfrm>
            <a:off x="4197096" y="1143000"/>
            <a:ext cx="3794760" cy="2084831"/>
          </a:xfrm>
          <a:prstGeom prst="rect">
            <a:avLst/>
          </a:prstGeom>
        </p:spPr>
      </p:pic>
      <p:pic>
        <p:nvPicPr>
          <p:cNvPr id="7" name="Picture 6" descr="Screenshot 2026-09-19 130332.png"/>
          <p:cNvPicPr>
            <a:picLocks noChangeAspect="1"/>
          </p:cNvPicPr>
          <p:nvPr/>
        </p:nvPicPr>
        <p:blipFill>
          <a:blip r:embed="rId4"/>
          <a:stretch>
            <a:fillRect/>
          </a:stretch>
        </p:blipFill>
        <p:spPr>
          <a:xfrm>
            <a:off x="8165592" y="1143000"/>
            <a:ext cx="3794760" cy="2084831"/>
          </a:xfrm>
          <a:prstGeom prst="rect">
            <a:avLst/>
          </a:prstGeom>
        </p:spPr>
      </p:pic>
      <p:sp>
        <p:nvSpPr>
          <p:cNvPr id="8" name="TextBox 7"/>
          <p:cNvSpPr txBox="1"/>
          <p:nvPr/>
        </p:nvSpPr>
        <p:spPr>
          <a:xfrm>
            <a:off x="411480" y="3337560"/>
            <a:ext cx="3474720" cy="411480"/>
          </a:xfrm>
          <a:prstGeom prst="rect">
            <a:avLst/>
          </a:prstGeom>
          <a:noFill/>
        </p:spPr>
        <p:txBody>
          <a:bodyPr wrap="square">
            <a:spAutoFit/>
          </a:bodyPr>
          <a:lstStyle/>
          <a:p>
            <a:pPr algn="ctr">
              <a:defRPr sz="1200" b="1">
                <a:solidFill>
                  <a:srgbClr val="0D1F3A"/>
                </a:solidFill>
                <a:latin typeface="Aptos"/>
              </a:defRPr>
            </a:pPr>
            <a:r>
              <a:t>0–6,000 kg range</a:t>
            </a:r>
          </a:p>
        </p:txBody>
      </p:sp>
      <p:sp>
        <p:nvSpPr>
          <p:cNvPr id="9" name="TextBox 8"/>
          <p:cNvSpPr txBox="1"/>
          <p:nvPr/>
        </p:nvSpPr>
        <p:spPr>
          <a:xfrm>
            <a:off x="4389120" y="3337560"/>
            <a:ext cx="3429000" cy="411480"/>
          </a:xfrm>
          <a:prstGeom prst="rect">
            <a:avLst/>
          </a:prstGeom>
          <a:noFill/>
        </p:spPr>
        <p:txBody>
          <a:bodyPr wrap="square">
            <a:spAutoFit/>
          </a:bodyPr>
          <a:lstStyle/>
          <a:p>
            <a:pPr algn="ctr">
              <a:defRPr sz="1200" b="1">
                <a:solidFill>
                  <a:srgbClr val="0D1F3A"/>
                </a:solidFill>
                <a:latin typeface="Aptos"/>
              </a:defRPr>
            </a:pPr>
            <a:r>
              <a:t>5,000–9,000 kg range</a:t>
            </a:r>
          </a:p>
        </p:txBody>
      </p:sp>
      <p:sp>
        <p:nvSpPr>
          <p:cNvPr id="10" name="TextBox 9"/>
          <p:cNvSpPr txBox="1"/>
          <p:nvPr/>
        </p:nvSpPr>
        <p:spPr>
          <a:xfrm>
            <a:off x="8339327" y="3337560"/>
            <a:ext cx="3429000" cy="411480"/>
          </a:xfrm>
          <a:prstGeom prst="rect">
            <a:avLst/>
          </a:prstGeom>
          <a:noFill/>
        </p:spPr>
        <p:txBody>
          <a:bodyPr wrap="square">
            <a:spAutoFit/>
          </a:bodyPr>
          <a:lstStyle/>
          <a:p>
            <a:pPr algn="ctr">
              <a:defRPr sz="1200" b="1">
                <a:solidFill>
                  <a:srgbClr val="0D1F3A"/>
                </a:solidFill>
                <a:latin typeface="Aptos"/>
              </a:defRPr>
            </a:pPr>
            <a:r>
              <a:t>Full payload distribution</a:t>
            </a:r>
          </a:p>
        </p:txBody>
      </p:sp>
      <p:sp>
        <p:nvSpPr>
          <p:cNvPr id="11" name="Rounded Rectangle 10"/>
          <p:cNvSpPr/>
          <p:nvPr/>
        </p:nvSpPr>
        <p:spPr>
          <a:xfrm>
            <a:off x="502920" y="3886200"/>
            <a:ext cx="11173968" cy="1874519"/>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087368"/>
            <a:ext cx="10607040" cy="274320"/>
          </a:xfrm>
          <a:prstGeom prst="rect">
            <a:avLst/>
          </a:prstGeom>
          <a:noFill/>
        </p:spPr>
        <p:txBody>
          <a:bodyPr wrap="square">
            <a:spAutoFit/>
          </a:bodyPr>
          <a:lstStyle/>
          <a:p>
            <a:pPr>
              <a:defRPr sz="1500" b="1">
                <a:solidFill>
                  <a:srgbClr val="0D1F3A"/>
                </a:solidFill>
                <a:latin typeface="Aptos"/>
              </a:defRPr>
            </a:pPr>
            <a:r>
              <a:t>Interpretation</a:t>
            </a:r>
          </a:p>
        </p:txBody>
      </p:sp>
      <p:sp>
        <p:nvSpPr>
          <p:cNvPr id="13" name="TextBox 12"/>
          <p:cNvSpPr txBox="1"/>
          <p:nvPr/>
        </p:nvSpPr>
        <p:spPr>
          <a:xfrm>
            <a:off x="749808" y="4462272"/>
            <a:ext cx="10515600" cy="960120"/>
          </a:xfrm>
          <a:prstGeom prst="rect">
            <a:avLst/>
          </a:prstGeom>
          <a:noFill/>
        </p:spPr>
        <p:txBody>
          <a:bodyPr wrap="square">
            <a:spAutoFit/>
          </a:bodyPr>
          <a:lstStyle/>
          <a:p>
            <a:pPr>
              <a:defRPr sz="1400" b="0">
                <a:solidFill>
                  <a:srgbClr val="5F6C7D"/>
                </a:solidFill>
                <a:latin typeface="Aptos"/>
              </a:defRPr>
            </a:pPr>
            <a:r>
              <a:t>The 0–6,000 kg payload range shows stronger successful-launch representation than the 5,000–9,000 kg range. Across the displayed booster categories, FT is identified as the highest-performing version in terms of launch success rate.</a:t>
            </a:r>
          </a:p>
        </p:txBody>
      </p:sp>
      <p:sp>
        <p:nvSpPr>
          <p:cNvPr id="14" name="TextBox 13"/>
          <p:cNvSpPr txBox="1"/>
          <p:nvPr/>
        </p:nvSpPr>
        <p:spPr>
          <a:xfrm>
            <a:off x="548640" y="6556248"/>
            <a:ext cx="10972800" cy="164592"/>
          </a:xfrm>
          <a:prstGeom prst="rect">
            <a:avLst/>
          </a:prstGeom>
          <a:noFill/>
        </p:spPr>
        <p:txBody>
          <a:bodyPr wrap="square">
            <a:spAutoFit/>
          </a:bodyPr>
          <a:lstStyle/>
          <a:p>
            <a:pPr algn="r">
              <a:defRPr sz="850" b="0">
                <a:solidFill>
                  <a:srgbClr val="5F6C7D"/>
                </a:solidFill>
                <a:latin typeface="Aptos"/>
              </a:defRPr>
            </a:pPr>
            <a:r>
              <a:t>Source: SpaceX launch records dataset | Findings based on the interactive Dash dashboard</a:t>
            </a:r>
          </a:p>
        </p:txBody>
      </p:sp>
    </p:spTree>
    <p:extLst>
      <p:ext uri="{BB962C8B-B14F-4D97-AF65-F5344CB8AC3E}">
        <p14:creationId xmlns:p14="http://schemas.microsoft.com/office/powerpoint/2010/main" val="393752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87552"/>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46304"/>
            <a:ext cx="11064240" cy="384048"/>
          </a:xfrm>
          <a:prstGeom prst="rect">
            <a:avLst/>
          </a:prstGeom>
          <a:noFill/>
        </p:spPr>
        <p:txBody>
          <a:bodyPr wrap="square">
            <a:spAutoFit/>
          </a:bodyPr>
          <a:lstStyle/>
          <a:p>
            <a:pPr>
              <a:defRPr sz="2800" b="1">
                <a:solidFill>
                  <a:srgbClr val="FFFFFF"/>
                </a:solidFill>
                <a:latin typeface="Aptos Display"/>
              </a:defRPr>
            </a:pPr>
            <a:r>
              <a:t>Exploratory Data Analysis and Visual Analytics</a:t>
            </a:r>
          </a:p>
        </p:txBody>
      </p:sp>
      <p:sp>
        <p:nvSpPr>
          <p:cNvPr id="4" name="TextBox 3"/>
          <p:cNvSpPr txBox="1"/>
          <p:nvPr/>
        </p:nvSpPr>
        <p:spPr>
          <a:xfrm>
            <a:off x="566928" y="630936"/>
            <a:ext cx="10972800" cy="201168"/>
          </a:xfrm>
          <a:prstGeom prst="rect">
            <a:avLst/>
          </a:prstGeom>
          <a:noFill/>
        </p:spPr>
        <p:txBody>
          <a:bodyPr wrap="square">
            <a:spAutoFit/>
          </a:bodyPr>
          <a:lstStyle/>
          <a:p>
            <a:pPr>
              <a:defRPr sz="1050" b="0">
                <a:solidFill>
                  <a:srgbClr val="CADAEE"/>
                </a:solidFill>
                <a:latin typeface="Aptos"/>
              </a:defRPr>
            </a:pPr>
            <a:r>
              <a:t>Investigating launch patterns, site performance, payload characteristics, and booster versions</a:t>
            </a:r>
          </a:p>
        </p:txBody>
      </p:sp>
      <p:sp>
        <p:nvSpPr>
          <p:cNvPr id="5" name="Rounded Rectangle 4"/>
          <p:cNvSpPr/>
          <p:nvPr/>
        </p:nvSpPr>
        <p:spPr>
          <a:xfrm>
            <a:off x="594360" y="128016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280160"/>
            <a:ext cx="82296" cy="1828800"/>
          </a:xfrm>
          <a:prstGeom prst="rect">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444751"/>
            <a:ext cx="3063239" cy="274320"/>
          </a:xfrm>
          <a:prstGeom prst="rect">
            <a:avLst/>
          </a:prstGeom>
          <a:noFill/>
        </p:spPr>
        <p:txBody>
          <a:bodyPr wrap="square">
            <a:spAutoFit/>
          </a:bodyPr>
          <a:lstStyle/>
          <a:p>
            <a:pPr>
              <a:defRPr sz="1350" b="1">
                <a:solidFill>
                  <a:srgbClr val="0D1F3A"/>
                </a:solidFill>
                <a:latin typeface="Aptos"/>
              </a:defRPr>
            </a:pPr>
            <a:r>
              <a:t>Data Exploration</a:t>
            </a:r>
          </a:p>
        </p:txBody>
      </p:sp>
      <p:sp>
        <p:nvSpPr>
          <p:cNvPr id="8" name="TextBox 7"/>
          <p:cNvSpPr txBox="1"/>
          <p:nvPr/>
        </p:nvSpPr>
        <p:spPr>
          <a:xfrm>
            <a:off x="822960" y="1847088"/>
            <a:ext cx="3063239" cy="1115568"/>
          </a:xfrm>
          <a:prstGeom prst="rect">
            <a:avLst/>
          </a:prstGeom>
          <a:noFill/>
        </p:spPr>
        <p:txBody>
          <a:bodyPr wrap="square">
            <a:spAutoFit/>
          </a:bodyPr>
          <a:lstStyle/>
          <a:p>
            <a:pPr>
              <a:defRPr sz="1070" b="0">
                <a:solidFill>
                  <a:srgbClr val="526174"/>
                </a:solidFill>
                <a:latin typeface="Aptos"/>
              </a:defRPr>
            </a:pPr>
            <a:r>
              <a:t>• Examined launch records and relevant variables</a:t>
            </a:r>
            <a:br/>
            <a:r>
              <a:t>• Reviewed launch sites, payload mass, orbit type, flight number, and booster version</a:t>
            </a:r>
            <a:br/>
            <a:r>
              <a:t>• Identified patterns and differences across launch conditions</a:t>
            </a:r>
          </a:p>
        </p:txBody>
      </p:sp>
      <p:sp>
        <p:nvSpPr>
          <p:cNvPr id="9" name="Rounded Rectangle 8"/>
          <p:cNvSpPr/>
          <p:nvPr/>
        </p:nvSpPr>
        <p:spPr>
          <a:xfrm>
            <a:off x="4361688" y="128016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61688" y="1280160"/>
            <a:ext cx="82296" cy="18288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444751"/>
            <a:ext cx="3063239" cy="274320"/>
          </a:xfrm>
          <a:prstGeom prst="rect">
            <a:avLst/>
          </a:prstGeom>
          <a:noFill/>
        </p:spPr>
        <p:txBody>
          <a:bodyPr wrap="square">
            <a:spAutoFit/>
          </a:bodyPr>
          <a:lstStyle/>
          <a:p>
            <a:pPr>
              <a:defRPr sz="1350" b="1">
                <a:solidFill>
                  <a:srgbClr val="0D1F3A"/>
                </a:solidFill>
                <a:latin typeface="Aptos"/>
              </a:defRPr>
            </a:pPr>
            <a:r>
              <a:t>Visual Analysis</a:t>
            </a:r>
          </a:p>
        </p:txBody>
      </p:sp>
      <p:sp>
        <p:nvSpPr>
          <p:cNvPr id="12" name="TextBox 11"/>
          <p:cNvSpPr txBox="1"/>
          <p:nvPr/>
        </p:nvSpPr>
        <p:spPr>
          <a:xfrm>
            <a:off x="4590288" y="1847088"/>
            <a:ext cx="3063239" cy="1115568"/>
          </a:xfrm>
          <a:prstGeom prst="rect">
            <a:avLst/>
          </a:prstGeom>
          <a:noFill/>
        </p:spPr>
        <p:txBody>
          <a:bodyPr wrap="square">
            <a:spAutoFit/>
          </a:bodyPr>
          <a:lstStyle/>
          <a:p>
            <a:pPr>
              <a:defRPr sz="1070" b="0">
                <a:solidFill>
                  <a:srgbClr val="526174"/>
                </a:solidFill>
                <a:latin typeface="Aptos"/>
              </a:defRPr>
            </a:pPr>
            <a:r>
              <a:t>• Used charts and interactive dashboard filters</a:t>
            </a:r>
            <a:br/>
            <a:r>
              <a:t>• Compared successful launches across sites</a:t>
            </a:r>
            <a:br/>
            <a:r>
              <a:t>• Examined payload and orbit relationships with landing outcomes</a:t>
            </a:r>
          </a:p>
        </p:txBody>
      </p:sp>
      <p:sp>
        <p:nvSpPr>
          <p:cNvPr id="13" name="Rounded Rectangle 12"/>
          <p:cNvSpPr/>
          <p:nvPr/>
        </p:nvSpPr>
        <p:spPr>
          <a:xfrm>
            <a:off x="8129016" y="1280160"/>
            <a:ext cx="3474720" cy="18288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29016" y="1280160"/>
            <a:ext cx="82296" cy="1828800"/>
          </a:xfrm>
          <a:prstGeom prst="rect">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7616" y="1444751"/>
            <a:ext cx="3063239" cy="274320"/>
          </a:xfrm>
          <a:prstGeom prst="rect">
            <a:avLst/>
          </a:prstGeom>
          <a:noFill/>
        </p:spPr>
        <p:txBody>
          <a:bodyPr wrap="square">
            <a:spAutoFit/>
          </a:bodyPr>
          <a:lstStyle/>
          <a:p>
            <a:pPr>
              <a:defRPr sz="1350" b="1">
                <a:solidFill>
                  <a:srgbClr val="0D1F3A"/>
                </a:solidFill>
                <a:latin typeface="Aptos"/>
              </a:defRPr>
            </a:pPr>
            <a:r>
              <a:t>Performance Comparisons</a:t>
            </a:r>
          </a:p>
        </p:txBody>
      </p:sp>
      <p:sp>
        <p:nvSpPr>
          <p:cNvPr id="16" name="TextBox 15"/>
          <p:cNvSpPr txBox="1"/>
          <p:nvPr/>
        </p:nvSpPr>
        <p:spPr>
          <a:xfrm>
            <a:off x="8357616" y="1847088"/>
            <a:ext cx="3063239" cy="1115568"/>
          </a:xfrm>
          <a:prstGeom prst="rect">
            <a:avLst/>
          </a:prstGeom>
          <a:noFill/>
        </p:spPr>
        <p:txBody>
          <a:bodyPr wrap="square">
            <a:spAutoFit/>
          </a:bodyPr>
          <a:lstStyle/>
          <a:p>
            <a:pPr>
              <a:defRPr sz="1070" b="0">
                <a:solidFill>
                  <a:srgbClr val="526174"/>
                </a:solidFill>
                <a:latin typeface="Aptos"/>
              </a:defRPr>
            </a:pPr>
            <a:r>
              <a:t>• Calculated success counts and success rates</a:t>
            </a:r>
            <a:br/>
            <a:r>
              <a:t>• Compared booster-version categories</a:t>
            </a:r>
            <a:br/>
            <a:r>
              <a:t>• Investigated how launch characteristics relate to mission success</a:t>
            </a:r>
          </a:p>
        </p:txBody>
      </p:sp>
      <p:sp>
        <p:nvSpPr>
          <p:cNvPr id="17" name="Rounded Rectangle 16"/>
          <p:cNvSpPr/>
          <p:nvPr/>
        </p:nvSpPr>
        <p:spPr>
          <a:xfrm>
            <a:off x="594360" y="3520440"/>
            <a:ext cx="11009376" cy="2148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730752"/>
            <a:ext cx="10424160" cy="274320"/>
          </a:xfrm>
          <a:prstGeom prst="rect">
            <a:avLst/>
          </a:prstGeom>
          <a:noFill/>
        </p:spPr>
        <p:txBody>
          <a:bodyPr wrap="square">
            <a:spAutoFit/>
          </a:bodyPr>
          <a:lstStyle/>
          <a:p>
            <a:pPr>
              <a:defRPr sz="1500" b="1">
                <a:solidFill>
                  <a:srgbClr val="0D1F3A"/>
                </a:solidFill>
                <a:latin typeface="Aptos"/>
              </a:defRPr>
            </a:pPr>
            <a:r>
              <a:t>Key Findings from the Visual Analysis</a:t>
            </a:r>
          </a:p>
        </p:txBody>
      </p:sp>
      <p:sp>
        <p:nvSpPr>
          <p:cNvPr id="19" name="Oval 18"/>
          <p:cNvSpPr/>
          <p:nvPr/>
        </p:nvSpPr>
        <p:spPr>
          <a:xfrm>
            <a:off x="896112" y="4169663"/>
            <a:ext cx="118872" cy="118872"/>
          </a:xfrm>
          <a:prstGeom prst="ellipse">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4133087"/>
            <a:ext cx="1325880" cy="201168"/>
          </a:xfrm>
          <a:prstGeom prst="rect">
            <a:avLst/>
          </a:prstGeom>
          <a:noFill/>
        </p:spPr>
        <p:txBody>
          <a:bodyPr wrap="square">
            <a:spAutoFit/>
          </a:bodyPr>
          <a:lstStyle/>
          <a:p>
            <a:pPr>
              <a:defRPr sz="1080" b="1">
                <a:solidFill>
                  <a:srgbClr val="0D1F3A"/>
                </a:solidFill>
                <a:latin typeface="Aptos"/>
              </a:defRPr>
            </a:pPr>
            <a:r>
              <a:t>Launch site</a:t>
            </a:r>
          </a:p>
        </p:txBody>
      </p:sp>
      <p:sp>
        <p:nvSpPr>
          <p:cNvPr id="21" name="TextBox 20"/>
          <p:cNvSpPr txBox="1"/>
          <p:nvPr/>
        </p:nvSpPr>
        <p:spPr>
          <a:xfrm>
            <a:off x="2468880" y="4133087"/>
            <a:ext cx="8641080" cy="228600"/>
          </a:xfrm>
          <a:prstGeom prst="rect">
            <a:avLst/>
          </a:prstGeom>
          <a:noFill/>
        </p:spPr>
        <p:txBody>
          <a:bodyPr wrap="square">
            <a:spAutoFit/>
          </a:bodyPr>
          <a:lstStyle/>
          <a:p>
            <a:pPr>
              <a:defRPr sz="1050" b="0">
                <a:solidFill>
                  <a:srgbClr val="526174"/>
                </a:solidFill>
                <a:latin typeface="Aptos"/>
              </a:defRPr>
            </a:pPr>
            <a:r>
              <a:t>KSC LC-39A recorded the largest share of successful launches and the highest observed site success rate: 76.9%.</a:t>
            </a:r>
          </a:p>
        </p:txBody>
      </p:sp>
      <p:sp>
        <p:nvSpPr>
          <p:cNvPr id="22" name="Oval 21"/>
          <p:cNvSpPr/>
          <p:nvPr/>
        </p:nvSpPr>
        <p:spPr>
          <a:xfrm>
            <a:off x="896112" y="4517136"/>
            <a:ext cx="118872" cy="118872"/>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4480559"/>
            <a:ext cx="1325880" cy="201168"/>
          </a:xfrm>
          <a:prstGeom prst="rect">
            <a:avLst/>
          </a:prstGeom>
          <a:noFill/>
        </p:spPr>
        <p:txBody>
          <a:bodyPr wrap="square">
            <a:spAutoFit/>
          </a:bodyPr>
          <a:lstStyle/>
          <a:p>
            <a:pPr>
              <a:defRPr sz="1080" b="1">
                <a:solidFill>
                  <a:srgbClr val="0D1F3A"/>
                </a:solidFill>
                <a:latin typeface="Aptos"/>
              </a:defRPr>
            </a:pPr>
            <a:r>
              <a:t>Booster version</a:t>
            </a:r>
          </a:p>
        </p:txBody>
      </p:sp>
      <p:sp>
        <p:nvSpPr>
          <p:cNvPr id="24" name="TextBox 23"/>
          <p:cNvSpPr txBox="1"/>
          <p:nvPr/>
        </p:nvSpPr>
        <p:spPr>
          <a:xfrm>
            <a:off x="2468880" y="4480559"/>
            <a:ext cx="8641080" cy="228600"/>
          </a:xfrm>
          <a:prstGeom prst="rect">
            <a:avLst/>
          </a:prstGeom>
          <a:noFill/>
        </p:spPr>
        <p:txBody>
          <a:bodyPr wrap="square">
            <a:spAutoFit/>
          </a:bodyPr>
          <a:lstStyle/>
          <a:p>
            <a:pPr>
              <a:defRPr sz="1050" b="0">
                <a:solidFill>
                  <a:srgbClr val="526174"/>
                </a:solidFill>
                <a:latin typeface="Aptos"/>
              </a:defRPr>
            </a:pPr>
            <a:r>
              <a:t>The Full Thrust (FT) category showed the highest launch success rate among the evaluated booster versions.</a:t>
            </a:r>
          </a:p>
        </p:txBody>
      </p:sp>
      <p:sp>
        <p:nvSpPr>
          <p:cNvPr id="25" name="Oval 24"/>
          <p:cNvSpPr/>
          <p:nvPr/>
        </p:nvSpPr>
        <p:spPr>
          <a:xfrm>
            <a:off x="896112" y="4864607"/>
            <a:ext cx="118872" cy="118872"/>
          </a:xfrm>
          <a:prstGeom prst="ellipse">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 y="4828031"/>
            <a:ext cx="1325880" cy="201168"/>
          </a:xfrm>
          <a:prstGeom prst="rect">
            <a:avLst/>
          </a:prstGeom>
          <a:noFill/>
        </p:spPr>
        <p:txBody>
          <a:bodyPr wrap="square">
            <a:spAutoFit/>
          </a:bodyPr>
          <a:lstStyle/>
          <a:p>
            <a:pPr>
              <a:defRPr sz="1080" b="1">
                <a:solidFill>
                  <a:srgbClr val="0D1F3A"/>
                </a:solidFill>
                <a:latin typeface="Aptos"/>
              </a:defRPr>
            </a:pPr>
            <a:r>
              <a:t>Payload analysis</a:t>
            </a:r>
          </a:p>
        </p:txBody>
      </p:sp>
      <p:sp>
        <p:nvSpPr>
          <p:cNvPr id="27" name="TextBox 26"/>
          <p:cNvSpPr txBox="1"/>
          <p:nvPr/>
        </p:nvSpPr>
        <p:spPr>
          <a:xfrm>
            <a:off x="2468880" y="4828031"/>
            <a:ext cx="8641080" cy="228600"/>
          </a:xfrm>
          <a:prstGeom prst="rect">
            <a:avLst/>
          </a:prstGeom>
          <a:noFill/>
        </p:spPr>
        <p:txBody>
          <a:bodyPr wrap="square">
            <a:spAutoFit/>
          </a:bodyPr>
          <a:lstStyle/>
          <a:p>
            <a:pPr>
              <a:defRPr sz="1050" b="0">
                <a:solidFill>
                  <a:srgbClr val="526174"/>
                </a:solidFill>
                <a:latin typeface="Aptos"/>
              </a:defRPr>
            </a:pPr>
            <a:r>
              <a:t>Interactive payload-range exploration was used to compare landing outcomes across different payload masses.</a:t>
            </a:r>
          </a:p>
        </p:txBody>
      </p:sp>
      <p:sp>
        <p:nvSpPr>
          <p:cNvPr id="28" name="Oval 27"/>
          <p:cNvSpPr/>
          <p:nvPr/>
        </p:nvSpPr>
        <p:spPr>
          <a:xfrm>
            <a:off x="896112" y="5212080"/>
            <a:ext cx="118872" cy="118872"/>
          </a:xfrm>
          <a:prstGeom prst="ellipse">
            <a:avLst/>
          </a:prstGeom>
          <a:solidFill>
            <a:srgbClr val="70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15568" y="5175504"/>
            <a:ext cx="1325880" cy="201168"/>
          </a:xfrm>
          <a:prstGeom prst="rect">
            <a:avLst/>
          </a:prstGeom>
          <a:noFill/>
        </p:spPr>
        <p:txBody>
          <a:bodyPr wrap="square">
            <a:spAutoFit/>
          </a:bodyPr>
          <a:lstStyle/>
          <a:p>
            <a:pPr>
              <a:defRPr sz="1080" b="1">
                <a:solidFill>
                  <a:srgbClr val="0D1F3A"/>
                </a:solidFill>
                <a:latin typeface="Aptos"/>
              </a:defRPr>
            </a:pPr>
            <a:r>
              <a:t>Analytical value</a:t>
            </a:r>
          </a:p>
        </p:txBody>
      </p:sp>
      <p:sp>
        <p:nvSpPr>
          <p:cNvPr id="30" name="TextBox 29"/>
          <p:cNvSpPr txBox="1"/>
          <p:nvPr/>
        </p:nvSpPr>
        <p:spPr>
          <a:xfrm>
            <a:off x="2468880" y="5175504"/>
            <a:ext cx="8641080" cy="228600"/>
          </a:xfrm>
          <a:prstGeom prst="rect">
            <a:avLst/>
          </a:prstGeom>
          <a:noFill/>
        </p:spPr>
        <p:txBody>
          <a:bodyPr wrap="square">
            <a:spAutoFit/>
          </a:bodyPr>
          <a:lstStyle/>
          <a:p>
            <a:pPr>
              <a:defRPr sz="1050" b="0">
                <a:solidFill>
                  <a:srgbClr val="526174"/>
                </a:solidFill>
                <a:latin typeface="Aptos"/>
              </a:defRPr>
            </a:pPr>
            <a:r>
              <a:t>Visual analytics helped reveal differences that would be difficult to identify from raw records alone.</a:t>
            </a:r>
          </a:p>
        </p:txBody>
      </p:sp>
      <p:sp>
        <p:nvSpPr>
          <p:cNvPr id="31" name="TextBox 30"/>
          <p:cNvSpPr txBox="1"/>
          <p:nvPr/>
        </p:nvSpPr>
        <p:spPr>
          <a:xfrm>
            <a:off x="548640" y="6565392"/>
            <a:ext cx="11064240" cy="146304"/>
          </a:xfrm>
          <a:prstGeom prst="rect">
            <a:avLst/>
          </a:prstGeom>
          <a:noFill/>
        </p:spPr>
        <p:txBody>
          <a:bodyPr wrap="square">
            <a:spAutoFit/>
          </a:bodyPr>
          <a:lstStyle/>
          <a:p>
            <a:pPr algn="r">
              <a:defRPr sz="850" b="0">
                <a:solidFill>
                  <a:srgbClr val="526174"/>
                </a:solidFill>
                <a:latin typeface="Aptos"/>
              </a:defRPr>
            </a:pPr>
            <a:r>
              <a:t>Source: SpaceX launch records dataset | EDA dashboard and visual analytics</a:t>
            </a:r>
          </a:p>
        </p:txBody>
      </p:sp>
    </p:spTree>
    <p:extLst>
      <p:ext uri="{BB962C8B-B14F-4D97-AF65-F5344CB8AC3E}">
        <p14:creationId xmlns:p14="http://schemas.microsoft.com/office/powerpoint/2010/main" val="2543395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87552"/>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46304"/>
            <a:ext cx="11064240" cy="384048"/>
          </a:xfrm>
          <a:prstGeom prst="rect">
            <a:avLst/>
          </a:prstGeom>
          <a:noFill/>
        </p:spPr>
        <p:txBody>
          <a:bodyPr wrap="square">
            <a:spAutoFit/>
          </a:bodyPr>
          <a:lstStyle/>
          <a:p>
            <a:pPr>
              <a:defRPr sz="2800" b="1">
                <a:solidFill>
                  <a:srgbClr val="FFFFFF"/>
                </a:solidFill>
                <a:latin typeface="Aptos Display"/>
              </a:defRPr>
            </a:pPr>
            <a:r>
              <a:t>Prediction Analysis Methodology</a:t>
            </a:r>
          </a:p>
        </p:txBody>
      </p:sp>
      <p:sp>
        <p:nvSpPr>
          <p:cNvPr id="4" name="TextBox 3"/>
          <p:cNvSpPr txBox="1"/>
          <p:nvPr/>
        </p:nvSpPr>
        <p:spPr>
          <a:xfrm>
            <a:off x="566928" y="630936"/>
            <a:ext cx="10972800" cy="201168"/>
          </a:xfrm>
          <a:prstGeom prst="rect">
            <a:avLst/>
          </a:prstGeom>
          <a:noFill/>
        </p:spPr>
        <p:txBody>
          <a:bodyPr wrap="square">
            <a:spAutoFit/>
          </a:bodyPr>
          <a:lstStyle/>
          <a:p>
            <a:pPr>
              <a:defRPr sz="1050" b="0">
                <a:solidFill>
                  <a:srgbClr val="CADAEE"/>
                </a:solidFill>
                <a:latin typeface="Aptos"/>
              </a:defRPr>
            </a:pPr>
            <a:r>
              <a:t>Machine-learning workflow used to predict Falcon 9 landing outcomes</a:t>
            </a:r>
          </a:p>
        </p:txBody>
      </p:sp>
      <p:sp>
        <p:nvSpPr>
          <p:cNvPr id="5" name="Oval 4"/>
          <p:cNvSpPr/>
          <p:nvPr/>
        </p:nvSpPr>
        <p:spPr>
          <a:xfrm>
            <a:off x="1252728" y="1353312"/>
            <a:ext cx="640080" cy="640080"/>
          </a:xfrm>
          <a:prstGeom prst="ellipse">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52728" y="1499616"/>
            <a:ext cx="640080" cy="228600"/>
          </a:xfrm>
          <a:prstGeom prst="rect">
            <a:avLst/>
          </a:prstGeom>
          <a:noFill/>
        </p:spPr>
        <p:txBody>
          <a:bodyPr wrap="square">
            <a:spAutoFit/>
          </a:bodyPr>
          <a:lstStyle/>
          <a:p>
            <a:pPr algn="ctr">
              <a:defRPr sz="1600" b="1">
                <a:solidFill>
                  <a:srgbClr val="FFFFFF"/>
                </a:solidFill>
                <a:latin typeface="Aptos"/>
              </a:defRPr>
            </a:pPr>
            <a:r>
              <a:t>1</a:t>
            </a:r>
          </a:p>
        </p:txBody>
      </p:sp>
      <p:sp>
        <p:nvSpPr>
          <p:cNvPr id="7" name="TextBox 6"/>
          <p:cNvSpPr txBox="1"/>
          <p:nvPr/>
        </p:nvSpPr>
        <p:spPr>
          <a:xfrm>
            <a:off x="548640" y="2148840"/>
            <a:ext cx="2011680" cy="320040"/>
          </a:xfrm>
          <a:prstGeom prst="rect">
            <a:avLst/>
          </a:prstGeom>
          <a:noFill/>
        </p:spPr>
        <p:txBody>
          <a:bodyPr wrap="square">
            <a:spAutoFit/>
          </a:bodyPr>
          <a:lstStyle/>
          <a:p>
            <a:pPr algn="ctr">
              <a:defRPr sz="1250" b="1">
                <a:solidFill>
                  <a:srgbClr val="0D1F3A"/>
                </a:solidFill>
                <a:latin typeface="Aptos"/>
              </a:defRPr>
            </a:pPr>
            <a:r>
              <a:t>Define the Target</a:t>
            </a:r>
          </a:p>
        </p:txBody>
      </p:sp>
      <p:sp>
        <p:nvSpPr>
          <p:cNvPr id="8" name="TextBox 7"/>
          <p:cNvSpPr txBox="1"/>
          <p:nvPr/>
        </p:nvSpPr>
        <p:spPr>
          <a:xfrm>
            <a:off x="521208" y="2578608"/>
            <a:ext cx="2057400" cy="1005840"/>
          </a:xfrm>
          <a:prstGeom prst="rect">
            <a:avLst/>
          </a:prstGeom>
          <a:noFill/>
        </p:spPr>
        <p:txBody>
          <a:bodyPr wrap="square">
            <a:spAutoFit/>
          </a:bodyPr>
          <a:lstStyle/>
          <a:p>
            <a:pPr algn="ctr">
              <a:defRPr sz="1019" b="0">
                <a:solidFill>
                  <a:srgbClr val="526174"/>
                </a:solidFill>
                <a:latin typeface="Aptos"/>
              </a:defRPr>
            </a:pPr>
            <a:r>
              <a:t>Use the landing outcome as the binary target:</a:t>
            </a:r>
            <a:br/>
            <a:r>
              <a:t>0 = did not land</a:t>
            </a:r>
            <a:br/>
            <a:r>
              <a:t>1 = landed</a:t>
            </a:r>
          </a:p>
        </p:txBody>
      </p:sp>
      <p:sp>
        <p:nvSpPr>
          <p:cNvPr id="9" name="Right Arrow 8"/>
          <p:cNvSpPr/>
          <p:nvPr/>
        </p:nvSpPr>
        <p:spPr>
          <a:xfrm>
            <a:off x="2560320" y="1536192"/>
            <a:ext cx="320040" cy="256032"/>
          </a:xfrm>
          <a:prstGeom prst="rightArrow">
            <a:avLst/>
          </a:prstGeom>
          <a:solidFill>
            <a:srgbClr val="DC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566160" y="1353312"/>
            <a:ext cx="640080" cy="64008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66160" y="1499616"/>
            <a:ext cx="640080" cy="228600"/>
          </a:xfrm>
          <a:prstGeom prst="rect">
            <a:avLst/>
          </a:prstGeom>
          <a:noFill/>
        </p:spPr>
        <p:txBody>
          <a:bodyPr wrap="square">
            <a:spAutoFit/>
          </a:bodyPr>
          <a:lstStyle/>
          <a:p>
            <a:pPr algn="ctr">
              <a:defRPr sz="1600" b="1">
                <a:solidFill>
                  <a:srgbClr val="FFFFFF"/>
                </a:solidFill>
                <a:latin typeface="Aptos"/>
              </a:defRPr>
            </a:pPr>
            <a:r>
              <a:t>2</a:t>
            </a:r>
          </a:p>
        </p:txBody>
      </p:sp>
      <p:sp>
        <p:nvSpPr>
          <p:cNvPr id="12" name="TextBox 11"/>
          <p:cNvSpPr txBox="1"/>
          <p:nvPr/>
        </p:nvSpPr>
        <p:spPr>
          <a:xfrm>
            <a:off x="2862072" y="2148840"/>
            <a:ext cx="2011680" cy="320040"/>
          </a:xfrm>
          <a:prstGeom prst="rect">
            <a:avLst/>
          </a:prstGeom>
          <a:noFill/>
        </p:spPr>
        <p:txBody>
          <a:bodyPr wrap="square">
            <a:spAutoFit/>
          </a:bodyPr>
          <a:lstStyle/>
          <a:p>
            <a:pPr algn="ctr">
              <a:defRPr sz="1250" b="1">
                <a:solidFill>
                  <a:srgbClr val="0D1F3A"/>
                </a:solidFill>
                <a:latin typeface="Aptos"/>
              </a:defRPr>
            </a:pPr>
            <a:r>
              <a:t>Prepare the Data</a:t>
            </a:r>
          </a:p>
        </p:txBody>
      </p:sp>
      <p:sp>
        <p:nvSpPr>
          <p:cNvPr id="13" name="TextBox 12"/>
          <p:cNvSpPr txBox="1"/>
          <p:nvPr/>
        </p:nvSpPr>
        <p:spPr>
          <a:xfrm>
            <a:off x="2834640" y="2578608"/>
            <a:ext cx="2057400" cy="1005840"/>
          </a:xfrm>
          <a:prstGeom prst="rect">
            <a:avLst/>
          </a:prstGeom>
          <a:noFill/>
        </p:spPr>
        <p:txBody>
          <a:bodyPr wrap="square">
            <a:spAutoFit/>
          </a:bodyPr>
          <a:lstStyle/>
          <a:p>
            <a:pPr algn="ctr">
              <a:defRPr sz="1019" b="0">
                <a:solidFill>
                  <a:srgbClr val="526174"/>
                </a:solidFill>
                <a:latin typeface="Aptos"/>
              </a:defRPr>
            </a:pPr>
            <a:r>
              <a:t>Select relevant launch features, clean the data, and prepare variables for modelling.</a:t>
            </a:r>
          </a:p>
        </p:txBody>
      </p:sp>
      <p:sp>
        <p:nvSpPr>
          <p:cNvPr id="14" name="Right Arrow 13"/>
          <p:cNvSpPr/>
          <p:nvPr/>
        </p:nvSpPr>
        <p:spPr>
          <a:xfrm>
            <a:off x="4873752" y="1536192"/>
            <a:ext cx="320040" cy="256032"/>
          </a:xfrm>
          <a:prstGeom prst="rightArrow">
            <a:avLst/>
          </a:prstGeom>
          <a:solidFill>
            <a:srgbClr val="DC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879592" y="1353312"/>
            <a:ext cx="640080" cy="640080"/>
          </a:xfrm>
          <a:prstGeom prst="ellipse">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79592" y="1499616"/>
            <a:ext cx="640080" cy="228600"/>
          </a:xfrm>
          <a:prstGeom prst="rect">
            <a:avLst/>
          </a:prstGeom>
          <a:noFill/>
        </p:spPr>
        <p:txBody>
          <a:bodyPr wrap="square">
            <a:spAutoFit/>
          </a:bodyPr>
          <a:lstStyle/>
          <a:p>
            <a:pPr algn="ctr">
              <a:defRPr sz="1600" b="1">
                <a:solidFill>
                  <a:srgbClr val="FFFFFF"/>
                </a:solidFill>
                <a:latin typeface="Aptos"/>
              </a:defRPr>
            </a:pPr>
            <a:r>
              <a:t>3</a:t>
            </a:r>
          </a:p>
        </p:txBody>
      </p:sp>
      <p:sp>
        <p:nvSpPr>
          <p:cNvPr id="17" name="TextBox 16"/>
          <p:cNvSpPr txBox="1"/>
          <p:nvPr/>
        </p:nvSpPr>
        <p:spPr>
          <a:xfrm>
            <a:off x="5175504" y="2148840"/>
            <a:ext cx="2011680" cy="320040"/>
          </a:xfrm>
          <a:prstGeom prst="rect">
            <a:avLst/>
          </a:prstGeom>
          <a:noFill/>
        </p:spPr>
        <p:txBody>
          <a:bodyPr wrap="square">
            <a:spAutoFit/>
          </a:bodyPr>
          <a:lstStyle/>
          <a:p>
            <a:pPr algn="ctr">
              <a:defRPr sz="1250" b="1">
                <a:solidFill>
                  <a:srgbClr val="0D1F3A"/>
                </a:solidFill>
                <a:latin typeface="Aptos"/>
              </a:defRPr>
            </a:pPr>
            <a:r>
              <a:t>Split the Dataset</a:t>
            </a:r>
          </a:p>
        </p:txBody>
      </p:sp>
      <p:sp>
        <p:nvSpPr>
          <p:cNvPr id="18" name="TextBox 17"/>
          <p:cNvSpPr txBox="1"/>
          <p:nvPr/>
        </p:nvSpPr>
        <p:spPr>
          <a:xfrm>
            <a:off x="5148072" y="2578608"/>
            <a:ext cx="2057400" cy="1005840"/>
          </a:xfrm>
          <a:prstGeom prst="rect">
            <a:avLst/>
          </a:prstGeom>
          <a:noFill/>
        </p:spPr>
        <p:txBody>
          <a:bodyPr wrap="square">
            <a:spAutoFit/>
          </a:bodyPr>
          <a:lstStyle/>
          <a:p>
            <a:pPr algn="ctr">
              <a:defRPr sz="1019" b="0">
                <a:solidFill>
                  <a:srgbClr val="526174"/>
                </a:solidFill>
                <a:latin typeface="Aptos"/>
              </a:defRPr>
            </a:pPr>
            <a:r>
              <a:t>Separate the data into training and test sets to evaluate performance on unseen observations.</a:t>
            </a:r>
          </a:p>
        </p:txBody>
      </p:sp>
      <p:sp>
        <p:nvSpPr>
          <p:cNvPr id="19" name="Right Arrow 18"/>
          <p:cNvSpPr/>
          <p:nvPr/>
        </p:nvSpPr>
        <p:spPr>
          <a:xfrm>
            <a:off x="7187184" y="1536192"/>
            <a:ext cx="320040" cy="256032"/>
          </a:xfrm>
          <a:prstGeom prst="rightArrow">
            <a:avLst/>
          </a:prstGeom>
          <a:solidFill>
            <a:srgbClr val="DC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193024" y="1353312"/>
            <a:ext cx="640080" cy="640080"/>
          </a:xfrm>
          <a:prstGeom prst="ellipse">
            <a:avLst/>
          </a:prstGeom>
          <a:solidFill>
            <a:srgbClr val="70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93024" y="1499616"/>
            <a:ext cx="640080" cy="228600"/>
          </a:xfrm>
          <a:prstGeom prst="rect">
            <a:avLst/>
          </a:prstGeom>
          <a:noFill/>
        </p:spPr>
        <p:txBody>
          <a:bodyPr wrap="square">
            <a:spAutoFit/>
          </a:bodyPr>
          <a:lstStyle/>
          <a:p>
            <a:pPr algn="ctr">
              <a:defRPr sz="1600" b="1">
                <a:solidFill>
                  <a:srgbClr val="FFFFFF"/>
                </a:solidFill>
                <a:latin typeface="Aptos"/>
              </a:defRPr>
            </a:pPr>
            <a:r>
              <a:t>4</a:t>
            </a:r>
          </a:p>
        </p:txBody>
      </p:sp>
      <p:sp>
        <p:nvSpPr>
          <p:cNvPr id="22" name="TextBox 21"/>
          <p:cNvSpPr txBox="1"/>
          <p:nvPr/>
        </p:nvSpPr>
        <p:spPr>
          <a:xfrm>
            <a:off x="7488936" y="2148840"/>
            <a:ext cx="2011680" cy="320040"/>
          </a:xfrm>
          <a:prstGeom prst="rect">
            <a:avLst/>
          </a:prstGeom>
          <a:noFill/>
        </p:spPr>
        <p:txBody>
          <a:bodyPr wrap="square">
            <a:spAutoFit/>
          </a:bodyPr>
          <a:lstStyle/>
          <a:p>
            <a:pPr algn="ctr">
              <a:defRPr sz="1250" b="1">
                <a:solidFill>
                  <a:srgbClr val="0D1F3A"/>
                </a:solidFill>
                <a:latin typeface="Aptos"/>
              </a:defRPr>
            </a:pPr>
            <a:r>
              <a:t>Train Models</a:t>
            </a:r>
          </a:p>
        </p:txBody>
      </p:sp>
      <p:sp>
        <p:nvSpPr>
          <p:cNvPr id="23" name="TextBox 22"/>
          <p:cNvSpPr txBox="1"/>
          <p:nvPr/>
        </p:nvSpPr>
        <p:spPr>
          <a:xfrm>
            <a:off x="7461504" y="2578608"/>
            <a:ext cx="2057400" cy="1005840"/>
          </a:xfrm>
          <a:prstGeom prst="rect">
            <a:avLst/>
          </a:prstGeom>
          <a:noFill/>
        </p:spPr>
        <p:txBody>
          <a:bodyPr wrap="square">
            <a:spAutoFit/>
          </a:bodyPr>
          <a:lstStyle/>
          <a:p>
            <a:pPr algn="ctr">
              <a:defRPr sz="1019" b="0">
                <a:solidFill>
                  <a:srgbClr val="526174"/>
                </a:solidFill>
                <a:latin typeface="Aptos"/>
              </a:defRPr>
            </a:pPr>
            <a:r>
              <a:t>Develop and evaluate Logistic Regression, SVM, Decision Tree, and KNN classifiers.</a:t>
            </a:r>
          </a:p>
        </p:txBody>
      </p:sp>
      <p:sp>
        <p:nvSpPr>
          <p:cNvPr id="24" name="Right Arrow 23"/>
          <p:cNvSpPr/>
          <p:nvPr/>
        </p:nvSpPr>
        <p:spPr>
          <a:xfrm>
            <a:off x="9500616" y="1536192"/>
            <a:ext cx="320040" cy="256032"/>
          </a:xfrm>
          <a:prstGeom prst="rightArrow">
            <a:avLst/>
          </a:prstGeom>
          <a:solidFill>
            <a:srgbClr val="DC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506456" y="1353312"/>
            <a:ext cx="640080" cy="640080"/>
          </a:xfrm>
          <a:prstGeom prst="ellipse">
            <a:avLst/>
          </a:prstGeom>
          <a:solidFill>
            <a:srgbClr val="C2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06456" y="1499616"/>
            <a:ext cx="640080" cy="228600"/>
          </a:xfrm>
          <a:prstGeom prst="rect">
            <a:avLst/>
          </a:prstGeom>
          <a:noFill/>
        </p:spPr>
        <p:txBody>
          <a:bodyPr wrap="square">
            <a:spAutoFit/>
          </a:bodyPr>
          <a:lstStyle/>
          <a:p>
            <a:pPr algn="ctr">
              <a:defRPr sz="1600" b="1">
                <a:solidFill>
                  <a:srgbClr val="FFFFFF"/>
                </a:solidFill>
                <a:latin typeface="Aptos"/>
              </a:defRPr>
            </a:pPr>
            <a:r>
              <a:t>5</a:t>
            </a:r>
          </a:p>
        </p:txBody>
      </p:sp>
      <p:sp>
        <p:nvSpPr>
          <p:cNvPr id="27" name="TextBox 26"/>
          <p:cNvSpPr txBox="1"/>
          <p:nvPr/>
        </p:nvSpPr>
        <p:spPr>
          <a:xfrm>
            <a:off x="9802368" y="2148840"/>
            <a:ext cx="2011680" cy="320040"/>
          </a:xfrm>
          <a:prstGeom prst="rect">
            <a:avLst/>
          </a:prstGeom>
          <a:noFill/>
        </p:spPr>
        <p:txBody>
          <a:bodyPr wrap="square">
            <a:spAutoFit/>
          </a:bodyPr>
          <a:lstStyle/>
          <a:p>
            <a:pPr algn="ctr">
              <a:defRPr sz="1250" b="1">
                <a:solidFill>
                  <a:srgbClr val="0D1F3A"/>
                </a:solidFill>
                <a:latin typeface="Aptos"/>
              </a:defRPr>
            </a:pPr>
            <a:r>
              <a:t>Evaluate Results</a:t>
            </a:r>
          </a:p>
        </p:txBody>
      </p:sp>
      <p:sp>
        <p:nvSpPr>
          <p:cNvPr id="28" name="TextBox 27"/>
          <p:cNvSpPr txBox="1"/>
          <p:nvPr/>
        </p:nvSpPr>
        <p:spPr>
          <a:xfrm>
            <a:off x="9774936" y="2578608"/>
            <a:ext cx="2057400" cy="1005840"/>
          </a:xfrm>
          <a:prstGeom prst="rect">
            <a:avLst/>
          </a:prstGeom>
          <a:noFill/>
        </p:spPr>
        <p:txBody>
          <a:bodyPr wrap="square">
            <a:spAutoFit/>
          </a:bodyPr>
          <a:lstStyle/>
          <a:p>
            <a:pPr algn="ctr">
              <a:defRPr sz="1019" b="0">
                <a:solidFill>
                  <a:srgbClr val="526174"/>
                </a:solidFill>
                <a:latin typeface="Aptos"/>
              </a:defRPr>
            </a:pPr>
            <a:r>
              <a:t>Compare test accuracy and inspect confusion matrices to identify correct predictions and errors.</a:t>
            </a:r>
          </a:p>
        </p:txBody>
      </p:sp>
      <p:sp>
        <p:nvSpPr>
          <p:cNvPr id="29" name="Rounded Rectangle 28"/>
          <p:cNvSpPr/>
          <p:nvPr/>
        </p:nvSpPr>
        <p:spPr>
          <a:xfrm>
            <a:off x="640080" y="4069080"/>
            <a:ext cx="53949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 y="4069080"/>
            <a:ext cx="82296" cy="1508760"/>
          </a:xfrm>
          <a:prstGeom prst="rect">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4233672"/>
            <a:ext cx="4983480" cy="274320"/>
          </a:xfrm>
          <a:prstGeom prst="rect">
            <a:avLst/>
          </a:prstGeom>
          <a:noFill/>
        </p:spPr>
        <p:txBody>
          <a:bodyPr wrap="square">
            <a:spAutoFit/>
          </a:bodyPr>
          <a:lstStyle/>
          <a:p>
            <a:pPr>
              <a:defRPr sz="1350" b="1">
                <a:solidFill>
                  <a:srgbClr val="0D1F3A"/>
                </a:solidFill>
                <a:latin typeface="Aptos"/>
              </a:defRPr>
            </a:pPr>
            <a:r>
              <a:t>Models Evaluated</a:t>
            </a:r>
          </a:p>
        </p:txBody>
      </p:sp>
      <p:sp>
        <p:nvSpPr>
          <p:cNvPr id="32" name="TextBox 31"/>
          <p:cNvSpPr txBox="1"/>
          <p:nvPr/>
        </p:nvSpPr>
        <p:spPr>
          <a:xfrm>
            <a:off x="868680" y="4636008"/>
            <a:ext cx="4983480" cy="795527"/>
          </a:xfrm>
          <a:prstGeom prst="rect">
            <a:avLst/>
          </a:prstGeom>
          <a:noFill/>
        </p:spPr>
        <p:txBody>
          <a:bodyPr wrap="square">
            <a:spAutoFit/>
          </a:bodyPr>
          <a:lstStyle/>
          <a:p>
            <a:pPr>
              <a:defRPr sz="1070" b="0">
                <a:solidFill>
                  <a:srgbClr val="526174"/>
                </a:solidFill>
                <a:latin typeface="Aptos"/>
              </a:defRPr>
            </a:pPr>
            <a:r>
              <a:t>• Logistic Regression</a:t>
            </a:r>
            <a:br/>
            <a:r>
              <a:t>• Support Vector Machine (SVM)</a:t>
            </a:r>
            <a:br/>
            <a:r>
              <a:t>• Decision Tree Classifier</a:t>
            </a:r>
            <a:br/>
            <a:r>
              <a:t>• K-Nearest Neighbours (KNN)</a:t>
            </a:r>
          </a:p>
        </p:txBody>
      </p:sp>
      <p:sp>
        <p:nvSpPr>
          <p:cNvPr id="33" name="Rounded Rectangle 32"/>
          <p:cNvSpPr/>
          <p:nvPr/>
        </p:nvSpPr>
        <p:spPr>
          <a:xfrm>
            <a:off x="6172200" y="4069080"/>
            <a:ext cx="53949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172200" y="4069080"/>
            <a:ext cx="82296" cy="15087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233672"/>
            <a:ext cx="4983480" cy="274320"/>
          </a:xfrm>
          <a:prstGeom prst="rect">
            <a:avLst/>
          </a:prstGeom>
          <a:noFill/>
        </p:spPr>
        <p:txBody>
          <a:bodyPr wrap="square">
            <a:spAutoFit/>
          </a:bodyPr>
          <a:lstStyle/>
          <a:p>
            <a:pPr>
              <a:defRPr sz="1350" b="1">
                <a:solidFill>
                  <a:srgbClr val="0D1F3A"/>
                </a:solidFill>
                <a:latin typeface="Aptos"/>
              </a:defRPr>
            </a:pPr>
            <a:r>
              <a:t>Evaluation Measures</a:t>
            </a:r>
          </a:p>
        </p:txBody>
      </p:sp>
      <p:sp>
        <p:nvSpPr>
          <p:cNvPr id="36" name="TextBox 35"/>
          <p:cNvSpPr txBox="1"/>
          <p:nvPr/>
        </p:nvSpPr>
        <p:spPr>
          <a:xfrm>
            <a:off x="6400800" y="4636008"/>
            <a:ext cx="4983480" cy="795527"/>
          </a:xfrm>
          <a:prstGeom prst="rect">
            <a:avLst/>
          </a:prstGeom>
          <a:noFill/>
        </p:spPr>
        <p:txBody>
          <a:bodyPr wrap="square">
            <a:spAutoFit/>
          </a:bodyPr>
          <a:lstStyle/>
          <a:p>
            <a:pPr>
              <a:defRPr sz="1070" b="0">
                <a:solidFill>
                  <a:srgbClr val="526174"/>
                </a:solidFill>
                <a:latin typeface="Aptos"/>
              </a:defRPr>
            </a:pPr>
            <a:r>
              <a:t>• Test-set accuracy</a:t>
            </a:r>
            <a:br/>
            <a:r>
              <a:t>• Confusion matrices</a:t>
            </a:r>
            <a:br/>
            <a:r>
              <a:t>• Correct versus incorrect classifications</a:t>
            </a:r>
            <a:br/>
            <a:r>
              <a:t>• Comparative assessment of model performance</a:t>
            </a:r>
          </a:p>
        </p:txBody>
      </p:sp>
      <p:sp>
        <p:nvSpPr>
          <p:cNvPr id="37" name="Rounded Rectangle 36"/>
          <p:cNvSpPr/>
          <p:nvPr/>
        </p:nvSpPr>
        <p:spPr>
          <a:xfrm>
            <a:off x="640080" y="5833872"/>
            <a:ext cx="10927080" cy="438912"/>
          </a:xfrm>
          <a:prstGeom prst="roundRect">
            <a:avLst/>
          </a:prstGeom>
          <a:solidFill>
            <a:srgbClr val="E8F0FA"/>
          </a:solidFill>
          <a:ln>
            <a:solidFill>
              <a:srgbClr val="BFD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680" y="5952744"/>
            <a:ext cx="10469880" cy="182880"/>
          </a:xfrm>
          <a:prstGeom prst="rect">
            <a:avLst/>
          </a:prstGeom>
          <a:noFill/>
        </p:spPr>
        <p:txBody>
          <a:bodyPr wrap="square">
            <a:spAutoFit/>
          </a:bodyPr>
          <a:lstStyle/>
          <a:p>
            <a:pPr algn="ctr">
              <a:defRPr sz="1120" b="1">
                <a:solidFill>
                  <a:srgbClr val="0D1F3A"/>
                </a:solidFill>
                <a:latin typeface="Aptos"/>
              </a:defRPr>
            </a:pPr>
            <a:r>
              <a:t>Objective: identify models capable of reliably distinguishing successful from unsuccessful Falcon 9 landings.</a:t>
            </a:r>
          </a:p>
        </p:txBody>
      </p:sp>
      <p:sp>
        <p:nvSpPr>
          <p:cNvPr id="39" name="TextBox 38"/>
          <p:cNvSpPr txBox="1"/>
          <p:nvPr/>
        </p:nvSpPr>
        <p:spPr>
          <a:xfrm>
            <a:off x="548640" y="6565392"/>
            <a:ext cx="11064240" cy="146304"/>
          </a:xfrm>
          <a:prstGeom prst="rect">
            <a:avLst/>
          </a:prstGeom>
          <a:noFill/>
        </p:spPr>
        <p:txBody>
          <a:bodyPr wrap="square">
            <a:spAutoFit/>
          </a:bodyPr>
          <a:lstStyle/>
          <a:p>
            <a:pPr algn="r">
              <a:defRPr sz="850" b="0">
                <a:solidFill>
                  <a:srgbClr val="526174"/>
                </a:solidFill>
                <a:latin typeface="Aptos"/>
              </a:defRPr>
            </a:pPr>
            <a:r>
              <a:t>Source: SpaceX launch records dataset | Machine-learning workflow</a:t>
            </a:r>
          </a:p>
        </p:txBody>
      </p:sp>
    </p:spTree>
    <p:extLst>
      <p:ext uri="{BB962C8B-B14F-4D97-AF65-F5344CB8AC3E}">
        <p14:creationId xmlns:p14="http://schemas.microsoft.com/office/powerpoint/2010/main" val="3351446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2688"/>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55680" cy="365760"/>
          </a:xfrm>
          <a:prstGeom prst="rect">
            <a:avLst/>
          </a:prstGeom>
          <a:noFill/>
        </p:spPr>
        <p:txBody>
          <a:bodyPr wrap="square">
            <a:spAutoFit/>
          </a:bodyPr>
          <a:lstStyle/>
          <a:p>
            <a:pPr>
              <a:defRPr sz="2700" b="1">
                <a:solidFill>
                  <a:srgbClr val="FFFFFF"/>
                </a:solidFill>
                <a:latin typeface="Aptos Display"/>
              </a:defRPr>
            </a:pPr>
            <a:r>
              <a:t>Prediction Analysis: Model Comparison</a:t>
            </a:r>
          </a:p>
        </p:txBody>
      </p:sp>
      <p:sp>
        <p:nvSpPr>
          <p:cNvPr id="4" name="TextBox 3"/>
          <p:cNvSpPr txBox="1"/>
          <p:nvPr/>
        </p:nvSpPr>
        <p:spPr>
          <a:xfrm>
            <a:off x="530352" y="594360"/>
            <a:ext cx="10972800" cy="201168"/>
          </a:xfrm>
          <a:prstGeom prst="rect">
            <a:avLst/>
          </a:prstGeom>
          <a:noFill/>
        </p:spPr>
        <p:txBody>
          <a:bodyPr wrap="square">
            <a:spAutoFit/>
          </a:bodyPr>
          <a:lstStyle/>
          <a:p>
            <a:pPr>
              <a:defRPr sz="1050" b="0">
                <a:solidFill>
                  <a:srgbClr val="CADAEE"/>
                </a:solidFill>
                <a:latin typeface="Aptos"/>
              </a:defRPr>
            </a:pPr>
            <a:r>
              <a:t>Evaluation of models predicting Falcon 9 landing outcomes</a:t>
            </a:r>
          </a:p>
        </p:txBody>
      </p:sp>
      <p:sp>
        <p:nvSpPr>
          <p:cNvPr id="5" name="Rounded Rectangle 4"/>
          <p:cNvSpPr/>
          <p:nvPr/>
        </p:nvSpPr>
        <p:spPr>
          <a:xfrm>
            <a:off x="502920" y="1234440"/>
            <a:ext cx="24231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17320"/>
            <a:ext cx="2240280" cy="256032"/>
          </a:xfrm>
          <a:prstGeom prst="rect">
            <a:avLst/>
          </a:prstGeom>
          <a:noFill/>
        </p:spPr>
        <p:txBody>
          <a:bodyPr wrap="square">
            <a:spAutoFit/>
          </a:bodyPr>
          <a:lstStyle/>
          <a:p>
            <a:pPr algn="ctr">
              <a:defRPr sz="1120" b="1">
                <a:solidFill>
                  <a:srgbClr val="0D1F3A"/>
                </a:solidFill>
                <a:latin typeface="Aptos"/>
              </a:defRPr>
            </a:pPr>
            <a:r>
              <a:t>Logistic Regression</a:t>
            </a:r>
          </a:p>
        </p:txBody>
      </p:sp>
      <p:sp>
        <p:nvSpPr>
          <p:cNvPr id="7" name="TextBox 6"/>
          <p:cNvSpPr txBox="1"/>
          <p:nvPr/>
        </p:nvSpPr>
        <p:spPr>
          <a:xfrm>
            <a:off x="594360" y="1755648"/>
            <a:ext cx="2240280" cy="411480"/>
          </a:xfrm>
          <a:prstGeom prst="rect">
            <a:avLst/>
          </a:prstGeom>
          <a:noFill/>
        </p:spPr>
        <p:txBody>
          <a:bodyPr wrap="square">
            <a:spAutoFit/>
          </a:bodyPr>
          <a:lstStyle/>
          <a:p>
            <a:pPr algn="ctr">
              <a:defRPr sz="2500" b="1">
                <a:solidFill>
                  <a:srgbClr val="2A5BA0"/>
                </a:solidFill>
                <a:latin typeface="Aptos"/>
              </a:defRPr>
            </a:pPr>
            <a:r>
              <a:t>83.3%</a:t>
            </a:r>
          </a:p>
        </p:txBody>
      </p:sp>
      <p:sp>
        <p:nvSpPr>
          <p:cNvPr id="8" name="TextBox 7"/>
          <p:cNvSpPr txBox="1"/>
          <p:nvPr/>
        </p:nvSpPr>
        <p:spPr>
          <a:xfrm>
            <a:off x="594360" y="2258568"/>
            <a:ext cx="2240280" cy="228600"/>
          </a:xfrm>
          <a:prstGeom prst="rect">
            <a:avLst/>
          </a:prstGeom>
          <a:noFill/>
        </p:spPr>
        <p:txBody>
          <a:bodyPr wrap="square">
            <a:spAutoFit/>
          </a:bodyPr>
          <a:lstStyle/>
          <a:p>
            <a:pPr algn="ctr">
              <a:defRPr sz="900" b="0">
                <a:solidFill>
                  <a:srgbClr val="5F6C7D"/>
                </a:solidFill>
                <a:latin typeface="Aptos"/>
              </a:defRPr>
            </a:pPr>
            <a:r>
              <a:t>15 of 18 correct</a:t>
            </a:r>
          </a:p>
        </p:txBody>
      </p:sp>
      <p:sp>
        <p:nvSpPr>
          <p:cNvPr id="9" name="Rounded Rectangle 8"/>
          <p:cNvSpPr/>
          <p:nvPr/>
        </p:nvSpPr>
        <p:spPr>
          <a:xfrm>
            <a:off x="3429000" y="1234440"/>
            <a:ext cx="24231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20440" y="1417320"/>
            <a:ext cx="2240280" cy="256032"/>
          </a:xfrm>
          <a:prstGeom prst="rect">
            <a:avLst/>
          </a:prstGeom>
          <a:noFill/>
        </p:spPr>
        <p:txBody>
          <a:bodyPr wrap="square">
            <a:spAutoFit/>
          </a:bodyPr>
          <a:lstStyle/>
          <a:p>
            <a:pPr algn="ctr">
              <a:defRPr sz="1120" b="1">
                <a:solidFill>
                  <a:srgbClr val="0D1F3A"/>
                </a:solidFill>
                <a:latin typeface="Aptos"/>
              </a:defRPr>
            </a:pPr>
            <a:r>
              <a:t>Support Vector Machine</a:t>
            </a:r>
          </a:p>
        </p:txBody>
      </p:sp>
      <p:sp>
        <p:nvSpPr>
          <p:cNvPr id="11" name="TextBox 10"/>
          <p:cNvSpPr txBox="1"/>
          <p:nvPr/>
        </p:nvSpPr>
        <p:spPr>
          <a:xfrm>
            <a:off x="3520440" y="1755648"/>
            <a:ext cx="2240280" cy="411480"/>
          </a:xfrm>
          <a:prstGeom prst="rect">
            <a:avLst/>
          </a:prstGeom>
          <a:noFill/>
        </p:spPr>
        <p:txBody>
          <a:bodyPr wrap="square">
            <a:spAutoFit/>
          </a:bodyPr>
          <a:lstStyle/>
          <a:p>
            <a:pPr algn="ctr">
              <a:defRPr sz="2500" b="1">
                <a:solidFill>
                  <a:srgbClr val="009688"/>
                </a:solidFill>
                <a:latin typeface="Aptos"/>
              </a:defRPr>
            </a:pPr>
            <a:r>
              <a:t>83.3%</a:t>
            </a:r>
          </a:p>
        </p:txBody>
      </p:sp>
      <p:sp>
        <p:nvSpPr>
          <p:cNvPr id="12" name="TextBox 11"/>
          <p:cNvSpPr txBox="1"/>
          <p:nvPr/>
        </p:nvSpPr>
        <p:spPr>
          <a:xfrm>
            <a:off x="3520440" y="2258568"/>
            <a:ext cx="2240280" cy="228600"/>
          </a:xfrm>
          <a:prstGeom prst="rect">
            <a:avLst/>
          </a:prstGeom>
          <a:noFill/>
        </p:spPr>
        <p:txBody>
          <a:bodyPr wrap="square">
            <a:spAutoFit/>
          </a:bodyPr>
          <a:lstStyle/>
          <a:p>
            <a:pPr algn="ctr">
              <a:defRPr sz="900" b="0">
                <a:solidFill>
                  <a:srgbClr val="5F6C7D"/>
                </a:solidFill>
                <a:latin typeface="Aptos"/>
              </a:defRPr>
            </a:pPr>
            <a:r>
              <a:t>15 of 18 correct</a:t>
            </a:r>
          </a:p>
        </p:txBody>
      </p:sp>
      <p:sp>
        <p:nvSpPr>
          <p:cNvPr id="13" name="Rounded Rectangle 12"/>
          <p:cNvSpPr/>
          <p:nvPr/>
        </p:nvSpPr>
        <p:spPr>
          <a:xfrm>
            <a:off x="6355080" y="1234440"/>
            <a:ext cx="24231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417320"/>
            <a:ext cx="2240280" cy="256032"/>
          </a:xfrm>
          <a:prstGeom prst="rect">
            <a:avLst/>
          </a:prstGeom>
          <a:noFill/>
        </p:spPr>
        <p:txBody>
          <a:bodyPr wrap="square">
            <a:spAutoFit/>
          </a:bodyPr>
          <a:lstStyle/>
          <a:p>
            <a:pPr algn="ctr">
              <a:defRPr sz="1120" b="1">
                <a:solidFill>
                  <a:srgbClr val="0D1F3A"/>
                </a:solidFill>
                <a:latin typeface="Aptos"/>
              </a:defRPr>
            </a:pPr>
            <a:r>
              <a:t>Decision Tree</a:t>
            </a:r>
          </a:p>
        </p:txBody>
      </p:sp>
      <p:sp>
        <p:nvSpPr>
          <p:cNvPr id="15" name="TextBox 14"/>
          <p:cNvSpPr txBox="1"/>
          <p:nvPr/>
        </p:nvSpPr>
        <p:spPr>
          <a:xfrm>
            <a:off x="6446520" y="1755648"/>
            <a:ext cx="2240280" cy="411480"/>
          </a:xfrm>
          <a:prstGeom prst="rect">
            <a:avLst/>
          </a:prstGeom>
          <a:noFill/>
        </p:spPr>
        <p:txBody>
          <a:bodyPr wrap="square">
            <a:spAutoFit/>
          </a:bodyPr>
          <a:lstStyle/>
          <a:p>
            <a:pPr algn="ctr">
              <a:defRPr sz="2500" b="1">
                <a:solidFill>
                  <a:srgbClr val="DE9D2D"/>
                </a:solidFill>
                <a:latin typeface="Aptos"/>
              </a:defRPr>
            </a:pPr>
            <a:r>
              <a:t>83.3%</a:t>
            </a:r>
          </a:p>
        </p:txBody>
      </p:sp>
      <p:sp>
        <p:nvSpPr>
          <p:cNvPr id="16" name="TextBox 15"/>
          <p:cNvSpPr txBox="1"/>
          <p:nvPr/>
        </p:nvSpPr>
        <p:spPr>
          <a:xfrm>
            <a:off x="6446520" y="2258568"/>
            <a:ext cx="2240280" cy="228600"/>
          </a:xfrm>
          <a:prstGeom prst="rect">
            <a:avLst/>
          </a:prstGeom>
          <a:noFill/>
        </p:spPr>
        <p:txBody>
          <a:bodyPr wrap="square">
            <a:spAutoFit/>
          </a:bodyPr>
          <a:lstStyle/>
          <a:p>
            <a:pPr algn="ctr">
              <a:defRPr sz="900" b="0">
                <a:solidFill>
                  <a:srgbClr val="5F6C7D"/>
                </a:solidFill>
                <a:latin typeface="Aptos"/>
              </a:defRPr>
            </a:pPr>
            <a:r>
              <a:t>15 of 18 correct</a:t>
            </a:r>
          </a:p>
        </p:txBody>
      </p:sp>
      <p:sp>
        <p:nvSpPr>
          <p:cNvPr id="17" name="Rounded Rectangle 16"/>
          <p:cNvSpPr/>
          <p:nvPr/>
        </p:nvSpPr>
        <p:spPr>
          <a:xfrm>
            <a:off x="9281160" y="1234440"/>
            <a:ext cx="2423160" cy="150876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72600" y="1417320"/>
            <a:ext cx="2240280" cy="256032"/>
          </a:xfrm>
          <a:prstGeom prst="rect">
            <a:avLst/>
          </a:prstGeom>
          <a:noFill/>
        </p:spPr>
        <p:txBody>
          <a:bodyPr wrap="square">
            <a:spAutoFit/>
          </a:bodyPr>
          <a:lstStyle/>
          <a:p>
            <a:pPr algn="ctr">
              <a:defRPr sz="1120" b="1">
                <a:solidFill>
                  <a:srgbClr val="0D1F3A"/>
                </a:solidFill>
                <a:latin typeface="Aptos"/>
              </a:defRPr>
            </a:pPr>
            <a:r>
              <a:t>K-Nearest Neighbours</a:t>
            </a:r>
          </a:p>
        </p:txBody>
      </p:sp>
      <p:sp>
        <p:nvSpPr>
          <p:cNvPr id="19" name="TextBox 18"/>
          <p:cNvSpPr txBox="1"/>
          <p:nvPr/>
        </p:nvSpPr>
        <p:spPr>
          <a:xfrm>
            <a:off x="9372600" y="1755648"/>
            <a:ext cx="2240280" cy="411480"/>
          </a:xfrm>
          <a:prstGeom prst="rect">
            <a:avLst/>
          </a:prstGeom>
          <a:noFill/>
        </p:spPr>
        <p:txBody>
          <a:bodyPr wrap="square">
            <a:spAutoFit/>
          </a:bodyPr>
          <a:lstStyle/>
          <a:p>
            <a:pPr algn="ctr">
              <a:defRPr sz="2500" b="1">
                <a:solidFill>
                  <a:srgbClr val="C24343"/>
                </a:solidFill>
                <a:latin typeface="Aptos"/>
              </a:defRPr>
            </a:pPr>
            <a:r>
              <a:t>61.1%</a:t>
            </a:r>
          </a:p>
        </p:txBody>
      </p:sp>
      <p:sp>
        <p:nvSpPr>
          <p:cNvPr id="20" name="TextBox 19"/>
          <p:cNvSpPr txBox="1"/>
          <p:nvPr/>
        </p:nvSpPr>
        <p:spPr>
          <a:xfrm>
            <a:off x="9372600" y="2258568"/>
            <a:ext cx="2240280" cy="228600"/>
          </a:xfrm>
          <a:prstGeom prst="rect">
            <a:avLst/>
          </a:prstGeom>
          <a:noFill/>
        </p:spPr>
        <p:txBody>
          <a:bodyPr wrap="square">
            <a:spAutoFit/>
          </a:bodyPr>
          <a:lstStyle/>
          <a:p>
            <a:pPr algn="ctr">
              <a:defRPr sz="900" b="0">
                <a:solidFill>
                  <a:srgbClr val="5F6C7D"/>
                </a:solidFill>
                <a:latin typeface="Aptos"/>
              </a:defRPr>
            </a:pPr>
            <a:r>
              <a:t>11 of 18 correct</a:t>
            </a:r>
          </a:p>
        </p:txBody>
      </p:sp>
      <p:graphicFrame>
        <p:nvGraphicFramePr>
          <p:cNvPr id="21" name="Table 20"/>
          <p:cNvGraphicFramePr>
            <a:graphicFrameLocks noGrp="1"/>
          </p:cNvGraphicFramePr>
          <p:nvPr/>
        </p:nvGraphicFramePr>
        <p:xfrm>
          <a:off x="502920" y="3063240"/>
          <a:ext cx="6492240" cy="2148840"/>
        </p:xfrm>
        <a:graphic>
          <a:graphicData uri="http://schemas.openxmlformats.org/drawingml/2006/table">
            <a:tbl>
              <a:tblPr firstRow="1" bandRow="1">
                <a:tableStyleId>{5C22544A-7EE6-4342-B048-85BDC9FD1C3A}</a:tableStyleId>
              </a:tblPr>
              <a:tblGrid>
                <a:gridCol w="1623060">
                  <a:extLst>
                    <a:ext uri="{9D8B030D-6E8A-4147-A177-3AD203B41FA5}">
                      <a16:colId xmlns:a16="http://schemas.microsoft.com/office/drawing/2014/main" val="20000"/>
                    </a:ext>
                  </a:extLst>
                </a:gridCol>
                <a:gridCol w="1623060">
                  <a:extLst>
                    <a:ext uri="{9D8B030D-6E8A-4147-A177-3AD203B41FA5}">
                      <a16:colId xmlns:a16="http://schemas.microsoft.com/office/drawing/2014/main" val="20001"/>
                    </a:ext>
                  </a:extLst>
                </a:gridCol>
                <a:gridCol w="1623060">
                  <a:extLst>
                    <a:ext uri="{9D8B030D-6E8A-4147-A177-3AD203B41FA5}">
                      <a16:colId xmlns:a16="http://schemas.microsoft.com/office/drawing/2014/main" val="20002"/>
                    </a:ext>
                  </a:extLst>
                </a:gridCol>
                <a:gridCol w="1623060">
                  <a:extLst>
                    <a:ext uri="{9D8B030D-6E8A-4147-A177-3AD203B41FA5}">
                      <a16:colId xmlns:a16="http://schemas.microsoft.com/office/drawing/2014/main" val="20003"/>
                    </a:ext>
                  </a:extLst>
                </a:gridCol>
              </a:tblGrid>
              <a:tr h="429768">
                <a:tc>
                  <a:txBody>
                    <a:bodyPr/>
                    <a:lstStyle/>
                    <a:p>
                      <a:pPr>
                        <a:defRPr sz="1000" b="1">
                          <a:solidFill>
                            <a:srgbClr val="FFFFFF"/>
                          </a:solidFill>
                        </a:defRPr>
                      </a:pPr>
                      <a:r>
                        <a:t>Model</a:t>
                      </a:r>
                    </a:p>
                  </a:txBody>
                  <a:tcPr>
                    <a:solidFill>
                      <a:srgbClr val="0D1F3A"/>
                    </a:solidFill>
                  </a:tcPr>
                </a:tc>
                <a:tc>
                  <a:txBody>
                    <a:bodyPr/>
                    <a:lstStyle/>
                    <a:p>
                      <a:pPr>
                        <a:defRPr sz="1000" b="1">
                          <a:solidFill>
                            <a:srgbClr val="FFFFFF"/>
                          </a:solidFill>
                        </a:defRPr>
                      </a:pPr>
                      <a:r>
                        <a:t>Accuracy</a:t>
                      </a:r>
                    </a:p>
                  </a:txBody>
                  <a:tcPr>
                    <a:solidFill>
                      <a:srgbClr val="0D1F3A"/>
                    </a:solidFill>
                  </a:tcPr>
                </a:tc>
                <a:tc>
                  <a:txBody>
                    <a:bodyPr/>
                    <a:lstStyle/>
                    <a:p>
                      <a:pPr>
                        <a:defRPr sz="1000" b="1">
                          <a:solidFill>
                            <a:srgbClr val="FFFFFF"/>
                          </a:solidFill>
                        </a:defRPr>
                      </a:pPr>
                      <a:r>
                        <a:t>Correct</a:t>
                      </a:r>
                    </a:p>
                  </a:txBody>
                  <a:tcPr>
                    <a:solidFill>
                      <a:srgbClr val="0D1F3A"/>
                    </a:solidFill>
                  </a:tcPr>
                </a:tc>
                <a:tc>
                  <a:txBody>
                    <a:bodyPr/>
                    <a:lstStyle/>
                    <a:p>
                      <a:pPr>
                        <a:defRPr sz="1000" b="1">
                          <a:solidFill>
                            <a:srgbClr val="FFFFFF"/>
                          </a:solidFill>
                        </a:defRPr>
                      </a:pPr>
                      <a:r>
                        <a:t>Observation</a:t>
                      </a:r>
                    </a:p>
                  </a:txBody>
                  <a:tcPr>
                    <a:solidFill>
                      <a:srgbClr val="0D1F3A"/>
                    </a:solidFill>
                  </a:tcPr>
                </a:tc>
                <a:extLst>
                  <a:ext uri="{0D108BD9-81ED-4DB2-BD59-A6C34878D82A}">
                    <a16:rowId xmlns:a16="http://schemas.microsoft.com/office/drawing/2014/main" val="10000"/>
                  </a:ext>
                </a:extLst>
              </a:tr>
              <a:tr h="429768">
                <a:tc>
                  <a:txBody>
                    <a:bodyPr/>
                    <a:lstStyle/>
                    <a:p>
                      <a:pPr>
                        <a:defRPr sz="930">
                          <a:solidFill>
                            <a:srgbClr val="0D1F3A"/>
                          </a:solidFill>
                        </a:defRPr>
                      </a:pPr>
                      <a:r>
                        <a:t>Logistic Regression</a:t>
                      </a:r>
                    </a:p>
                  </a:txBody>
                  <a:tcPr>
                    <a:solidFill>
                      <a:srgbClr val="FFFFFF"/>
                    </a:solidFill>
                  </a:tcPr>
                </a:tc>
                <a:tc>
                  <a:txBody>
                    <a:bodyPr/>
                    <a:lstStyle/>
                    <a:p>
                      <a:pPr>
                        <a:defRPr sz="930">
                          <a:solidFill>
                            <a:srgbClr val="0D1F3A"/>
                          </a:solidFill>
                        </a:defRPr>
                      </a:pPr>
                      <a:r>
                        <a:t>83.3%</a:t>
                      </a:r>
                    </a:p>
                  </a:txBody>
                  <a:tcPr>
                    <a:solidFill>
                      <a:srgbClr val="FFFFFF"/>
                    </a:solidFill>
                  </a:tcPr>
                </a:tc>
                <a:tc>
                  <a:txBody>
                    <a:bodyPr/>
                    <a:lstStyle/>
                    <a:p>
                      <a:pPr>
                        <a:defRPr sz="930">
                          <a:solidFill>
                            <a:srgbClr val="5F6C7D"/>
                          </a:solidFill>
                        </a:defRPr>
                      </a:pPr>
                      <a:r>
                        <a:t>15/18</a:t>
                      </a:r>
                    </a:p>
                  </a:txBody>
                  <a:tcPr>
                    <a:solidFill>
                      <a:srgbClr val="FFFFFF"/>
                    </a:solidFill>
                  </a:tcPr>
                </a:tc>
                <a:tc>
                  <a:txBody>
                    <a:bodyPr/>
                    <a:lstStyle/>
                    <a:p>
                      <a:pPr>
                        <a:defRPr sz="930">
                          <a:solidFill>
                            <a:srgbClr val="5F6C7D"/>
                          </a:solidFill>
                        </a:defRPr>
                      </a:pPr>
                      <a:r>
                        <a:t>Strong overall performance</a:t>
                      </a:r>
                    </a:p>
                  </a:txBody>
                  <a:tcPr>
                    <a:solidFill>
                      <a:srgbClr val="FFFFFF"/>
                    </a:solidFill>
                  </a:tcPr>
                </a:tc>
                <a:extLst>
                  <a:ext uri="{0D108BD9-81ED-4DB2-BD59-A6C34878D82A}">
                    <a16:rowId xmlns:a16="http://schemas.microsoft.com/office/drawing/2014/main" val="10001"/>
                  </a:ext>
                </a:extLst>
              </a:tr>
              <a:tr h="429768">
                <a:tc>
                  <a:txBody>
                    <a:bodyPr/>
                    <a:lstStyle/>
                    <a:p>
                      <a:pPr>
                        <a:defRPr sz="930">
                          <a:solidFill>
                            <a:srgbClr val="0D1F3A"/>
                          </a:solidFill>
                        </a:defRPr>
                      </a:pPr>
                      <a:r>
                        <a:t>SVM</a:t>
                      </a:r>
                    </a:p>
                  </a:txBody>
                  <a:tcPr>
                    <a:solidFill>
                      <a:srgbClr val="F2F6FB"/>
                    </a:solidFill>
                  </a:tcPr>
                </a:tc>
                <a:tc>
                  <a:txBody>
                    <a:bodyPr/>
                    <a:lstStyle/>
                    <a:p>
                      <a:pPr>
                        <a:defRPr sz="930">
                          <a:solidFill>
                            <a:srgbClr val="0D1F3A"/>
                          </a:solidFill>
                        </a:defRPr>
                      </a:pPr>
                      <a:r>
                        <a:t>83.3%</a:t>
                      </a:r>
                    </a:p>
                  </a:txBody>
                  <a:tcPr>
                    <a:solidFill>
                      <a:srgbClr val="F2F6FB"/>
                    </a:solidFill>
                  </a:tcPr>
                </a:tc>
                <a:tc>
                  <a:txBody>
                    <a:bodyPr/>
                    <a:lstStyle/>
                    <a:p>
                      <a:pPr>
                        <a:defRPr sz="930">
                          <a:solidFill>
                            <a:srgbClr val="5F6C7D"/>
                          </a:solidFill>
                        </a:defRPr>
                      </a:pPr>
                      <a:r>
                        <a:t>15/18</a:t>
                      </a:r>
                    </a:p>
                  </a:txBody>
                  <a:tcPr>
                    <a:solidFill>
                      <a:srgbClr val="F2F6FB"/>
                    </a:solidFill>
                  </a:tcPr>
                </a:tc>
                <a:tc>
                  <a:txBody>
                    <a:bodyPr/>
                    <a:lstStyle/>
                    <a:p>
                      <a:pPr>
                        <a:defRPr sz="930">
                          <a:solidFill>
                            <a:srgbClr val="5F6C7D"/>
                          </a:solidFill>
                        </a:defRPr>
                      </a:pPr>
                      <a:r>
                        <a:t>Matched Logistic Regression</a:t>
                      </a:r>
                    </a:p>
                  </a:txBody>
                  <a:tcPr>
                    <a:solidFill>
                      <a:srgbClr val="F2F6FB"/>
                    </a:solidFill>
                  </a:tcPr>
                </a:tc>
                <a:extLst>
                  <a:ext uri="{0D108BD9-81ED-4DB2-BD59-A6C34878D82A}">
                    <a16:rowId xmlns:a16="http://schemas.microsoft.com/office/drawing/2014/main" val="10002"/>
                  </a:ext>
                </a:extLst>
              </a:tr>
              <a:tr h="429768">
                <a:tc>
                  <a:txBody>
                    <a:bodyPr/>
                    <a:lstStyle/>
                    <a:p>
                      <a:pPr>
                        <a:defRPr sz="930">
                          <a:solidFill>
                            <a:srgbClr val="0D1F3A"/>
                          </a:solidFill>
                        </a:defRPr>
                      </a:pPr>
                      <a:r>
                        <a:t>Decision Tree</a:t>
                      </a:r>
                    </a:p>
                  </a:txBody>
                  <a:tcPr>
                    <a:solidFill>
                      <a:srgbClr val="FFFFFF"/>
                    </a:solidFill>
                  </a:tcPr>
                </a:tc>
                <a:tc>
                  <a:txBody>
                    <a:bodyPr/>
                    <a:lstStyle/>
                    <a:p>
                      <a:pPr>
                        <a:defRPr sz="930">
                          <a:solidFill>
                            <a:srgbClr val="0D1F3A"/>
                          </a:solidFill>
                        </a:defRPr>
                      </a:pPr>
                      <a:r>
                        <a:t>83.3%</a:t>
                      </a:r>
                    </a:p>
                  </a:txBody>
                  <a:tcPr>
                    <a:solidFill>
                      <a:srgbClr val="FFFFFF"/>
                    </a:solidFill>
                  </a:tcPr>
                </a:tc>
                <a:tc>
                  <a:txBody>
                    <a:bodyPr/>
                    <a:lstStyle/>
                    <a:p>
                      <a:pPr>
                        <a:defRPr sz="930">
                          <a:solidFill>
                            <a:srgbClr val="5F6C7D"/>
                          </a:solidFill>
                        </a:defRPr>
                      </a:pPr>
                      <a:r>
                        <a:t>15/18</a:t>
                      </a:r>
                    </a:p>
                  </a:txBody>
                  <a:tcPr>
                    <a:solidFill>
                      <a:srgbClr val="FFFFFF"/>
                    </a:solidFill>
                  </a:tcPr>
                </a:tc>
                <a:tc>
                  <a:txBody>
                    <a:bodyPr/>
                    <a:lstStyle/>
                    <a:p>
                      <a:pPr>
                        <a:defRPr sz="930">
                          <a:solidFill>
                            <a:srgbClr val="5F6C7D"/>
                          </a:solidFill>
                        </a:defRPr>
                      </a:pPr>
                      <a:r>
                        <a:t>Matched top accuracy</a:t>
                      </a:r>
                    </a:p>
                  </a:txBody>
                  <a:tcPr>
                    <a:solidFill>
                      <a:srgbClr val="FFFFFF"/>
                    </a:solidFill>
                  </a:tcPr>
                </a:tc>
                <a:extLst>
                  <a:ext uri="{0D108BD9-81ED-4DB2-BD59-A6C34878D82A}">
                    <a16:rowId xmlns:a16="http://schemas.microsoft.com/office/drawing/2014/main" val="10003"/>
                  </a:ext>
                </a:extLst>
              </a:tr>
              <a:tr h="429768">
                <a:tc>
                  <a:txBody>
                    <a:bodyPr/>
                    <a:lstStyle/>
                    <a:p>
                      <a:pPr>
                        <a:defRPr sz="930">
                          <a:solidFill>
                            <a:srgbClr val="0D1F3A"/>
                          </a:solidFill>
                        </a:defRPr>
                      </a:pPr>
                      <a:r>
                        <a:t>KNN</a:t>
                      </a:r>
                    </a:p>
                  </a:txBody>
                  <a:tcPr>
                    <a:solidFill>
                      <a:srgbClr val="F2F6FB"/>
                    </a:solidFill>
                  </a:tcPr>
                </a:tc>
                <a:tc>
                  <a:txBody>
                    <a:bodyPr/>
                    <a:lstStyle/>
                    <a:p>
                      <a:pPr>
                        <a:defRPr sz="930">
                          <a:solidFill>
                            <a:srgbClr val="0D1F3A"/>
                          </a:solidFill>
                        </a:defRPr>
                      </a:pPr>
                      <a:r>
                        <a:t>61.1%</a:t>
                      </a:r>
                    </a:p>
                  </a:txBody>
                  <a:tcPr>
                    <a:solidFill>
                      <a:srgbClr val="F2F6FB"/>
                    </a:solidFill>
                  </a:tcPr>
                </a:tc>
                <a:tc>
                  <a:txBody>
                    <a:bodyPr/>
                    <a:lstStyle/>
                    <a:p>
                      <a:pPr>
                        <a:defRPr sz="930">
                          <a:solidFill>
                            <a:srgbClr val="5F6C7D"/>
                          </a:solidFill>
                        </a:defRPr>
                      </a:pPr>
                      <a:r>
                        <a:t>11/18</a:t>
                      </a:r>
                    </a:p>
                  </a:txBody>
                  <a:tcPr>
                    <a:solidFill>
                      <a:srgbClr val="F2F6FB"/>
                    </a:solidFill>
                  </a:tcPr>
                </a:tc>
                <a:tc>
                  <a:txBody>
                    <a:bodyPr/>
                    <a:lstStyle/>
                    <a:p>
                      <a:pPr>
                        <a:defRPr sz="930">
                          <a:solidFill>
                            <a:srgbClr val="5F6C7D"/>
                          </a:solidFill>
                        </a:defRPr>
                      </a:pPr>
                      <a:r>
                        <a:t>Lower predictive performance</a:t>
                      </a:r>
                    </a:p>
                  </a:txBody>
                  <a:tcPr>
                    <a:solidFill>
                      <a:srgbClr val="F2F6FB"/>
                    </a:solidFill>
                  </a:tcPr>
                </a:tc>
                <a:extLst>
                  <a:ext uri="{0D108BD9-81ED-4DB2-BD59-A6C34878D82A}">
                    <a16:rowId xmlns:a16="http://schemas.microsoft.com/office/drawing/2014/main" val="10004"/>
                  </a:ext>
                </a:extLst>
              </a:tr>
            </a:tbl>
          </a:graphicData>
        </a:graphic>
      </p:graphicFrame>
      <p:sp>
        <p:nvSpPr>
          <p:cNvPr id="22" name="Rounded Rectangle 21"/>
          <p:cNvSpPr/>
          <p:nvPr/>
        </p:nvSpPr>
        <p:spPr>
          <a:xfrm>
            <a:off x="7315200" y="3063240"/>
            <a:ext cx="4361688" cy="21488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0" y="3063240"/>
            <a:ext cx="73152" cy="214884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16368" y="3209544"/>
            <a:ext cx="3995927" cy="274320"/>
          </a:xfrm>
          <a:prstGeom prst="rect">
            <a:avLst/>
          </a:prstGeom>
          <a:noFill/>
        </p:spPr>
        <p:txBody>
          <a:bodyPr wrap="square">
            <a:spAutoFit/>
          </a:bodyPr>
          <a:lstStyle/>
          <a:p>
            <a:pPr>
              <a:defRPr sz="1250" b="1">
                <a:solidFill>
                  <a:srgbClr val="0D1F3A"/>
                </a:solidFill>
                <a:latin typeface="Aptos"/>
              </a:defRPr>
            </a:pPr>
            <a:r>
              <a:t>Key Interpretation</a:t>
            </a:r>
          </a:p>
        </p:txBody>
      </p:sp>
      <p:sp>
        <p:nvSpPr>
          <p:cNvPr id="25" name="TextBox 24"/>
          <p:cNvSpPr txBox="1"/>
          <p:nvPr/>
        </p:nvSpPr>
        <p:spPr>
          <a:xfrm>
            <a:off x="7516368" y="3593592"/>
            <a:ext cx="3995927" cy="1508760"/>
          </a:xfrm>
          <a:prstGeom prst="rect">
            <a:avLst/>
          </a:prstGeom>
          <a:noFill/>
        </p:spPr>
        <p:txBody>
          <a:bodyPr wrap="square">
            <a:spAutoFit/>
          </a:bodyPr>
          <a:lstStyle/>
          <a:p>
            <a:pPr>
              <a:defRPr sz="1050" b="0">
                <a:solidFill>
                  <a:srgbClr val="5F6C7D"/>
                </a:solidFill>
                <a:latin typeface="Aptos"/>
              </a:defRPr>
            </a:pPr>
            <a:r>
              <a:t>Logistic Regression, SVM, and Decision Tree achieved identical test accuracies of 83.3%. KNN performed considerably worse at 61.1%. The three higher-performing models correctly classified 15 of 18 test cases.</a:t>
            </a:r>
          </a:p>
        </p:txBody>
      </p:sp>
      <p:sp>
        <p:nvSpPr>
          <p:cNvPr id="26" name="Rounded Rectangle 25"/>
          <p:cNvSpPr/>
          <p:nvPr/>
        </p:nvSpPr>
        <p:spPr>
          <a:xfrm>
            <a:off x="502920" y="5532120"/>
            <a:ext cx="11173968" cy="621792"/>
          </a:xfrm>
          <a:prstGeom prst="roundRect">
            <a:avLst/>
          </a:prstGeom>
          <a:solidFill>
            <a:srgbClr val="E8F0FA"/>
          </a:solidFill>
          <a:ln>
            <a:solidFill>
              <a:srgbClr val="BFD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 y="5660136"/>
            <a:ext cx="10744200" cy="274320"/>
          </a:xfrm>
          <a:prstGeom prst="rect">
            <a:avLst/>
          </a:prstGeom>
          <a:noFill/>
        </p:spPr>
        <p:txBody>
          <a:bodyPr wrap="square">
            <a:spAutoFit/>
          </a:bodyPr>
          <a:lstStyle/>
          <a:p>
            <a:pPr>
              <a:defRPr sz="1100" b="1">
                <a:solidFill>
                  <a:srgbClr val="0D1F3A"/>
                </a:solidFill>
                <a:latin typeface="Aptos"/>
              </a:defRPr>
            </a:pPr>
            <a:r>
              <a:t>Note: The SVM confusion matrix was not regenerated because its original training process required several hours.</a:t>
            </a:r>
          </a:p>
        </p:txBody>
      </p:sp>
      <p:sp>
        <p:nvSpPr>
          <p:cNvPr id="28" name="TextBox 27"/>
          <p:cNvSpPr txBox="1"/>
          <p:nvPr/>
        </p:nvSpPr>
        <p:spPr>
          <a:xfrm>
            <a:off x="502920" y="6556248"/>
            <a:ext cx="11155680" cy="164592"/>
          </a:xfrm>
          <a:prstGeom prst="rect">
            <a:avLst/>
          </a:prstGeom>
          <a:noFill/>
        </p:spPr>
        <p:txBody>
          <a:bodyPr wrap="square">
            <a:spAutoFit/>
          </a:bodyPr>
          <a:lstStyle/>
          <a:p>
            <a:pPr algn="r">
              <a:defRPr sz="850" b="0">
                <a:solidFill>
                  <a:srgbClr val="5F6C7D"/>
                </a:solidFill>
                <a:latin typeface="Aptos"/>
              </a:defRPr>
            </a:pPr>
            <a:r>
              <a:t>Source: SpaceX launch records dataset | Model evaluation results</a:t>
            </a:r>
          </a:p>
        </p:txBody>
      </p:sp>
    </p:spTree>
    <p:extLst>
      <p:ext uri="{BB962C8B-B14F-4D97-AF65-F5344CB8AC3E}">
        <p14:creationId xmlns:p14="http://schemas.microsoft.com/office/powerpoint/2010/main" val="3762991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32688"/>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55680" cy="365760"/>
          </a:xfrm>
          <a:prstGeom prst="rect">
            <a:avLst/>
          </a:prstGeom>
          <a:noFill/>
        </p:spPr>
        <p:txBody>
          <a:bodyPr wrap="square">
            <a:spAutoFit/>
          </a:bodyPr>
          <a:lstStyle/>
          <a:p>
            <a:pPr>
              <a:defRPr sz="2700" b="1">
                <a:solidFill>
                  <a:srgbClr val="FFFFFF"/>
                </a:solidFill>
                <a:latin typeface="Aptos Display"/>
              </a:defRPr>
            </a:pPr>
            <a:r>
              <a:t>Prediction Analysis: Confusion Matrices</a:t>
            </a:r>
          </a:p>
        </p:txBody>
      </p:sp>
      <p:sp>
        <p:nvSpPr>
          <p:cNvPr id="4" name="TextBox 3"/>
          <p:cNvSpPr txBox="1"/>
          <p:nvPr/>
        </p:nvSpPr>
        <p:spPr>
          <a:xfrm>
            <a:off x="530352" y="594360"/>
            <a:ext cx="10972800" cy="201168"/>
          </a:xfrm>
          <a:prstGeom prst="rect">
            <a:avLst/>
          </a:prstGeom>
          <a:noFill/>
        </p:spPr>
        <p:txBody>
          <a:bodyPr wrap="square">
            <a:spAutoFit/>
          </a:bodyPr>
          <a:lstStyle/>
          <a:p>
            <a:pPr>
              <a:defRPr sz="1050" b="0">
                <a:solidFill>
                  <a:srgbClr val="CADAEE"/>
                </a:solidFill>
                <a:latin typeface="Aptos"/>
              </a:defRPr>
            </a:pPr>
            <a:r>
              <a:t>Detailed prediction outcomes for the evaluated classifiers</a:t>
            </a:r>
          </a:p>
        </p:txBody>
      </p:sp>
      <p:pic>
        <p:nvPicPr>
          <p:cNvPr id="5" name="Picture 4" descr="Screenshot 2026-09-19 133807.png"/>
          <p:cNvPicPr>
            <a:picLocks noChangeAspect="1"/>
          </p:cNvPicPr>
          <p:nvPr/>
        </p:nvPicPr>
        <p:blipFill>
          <a:blip r:embed="rId2"/>
          <a:stretch>
            <a:fillRect/>
          </a:stretch>
        </p:blipFill>
        <p:spPr>
          <a:xfrm>
            <a:off x="320040" y="1115568"/>
            <a:ext cx="3703320" cy="2761488"/>
          </a:xfrm>
          <a:prstGeom prst="rect">
            <a:avLst/>
          </a:prstGeom>
        </p:spPr>
      </p:pic>
      <p:pic>
        <p:nvPicPr>
          <p:cNvPr id="6" name="Picture 5" descr="Screenshot 2026-09-19 140029.png"/>
          <p:cNvPicPr>
            <a:picLocks noChangeAspect="1"/>
          </p:cNvPicPr>
          <p:nvPr/>
        </p:nvPicPr>
        <p:blipFill>
          <a:blip r:embed="rId3"/>
          <a:stretch>
            <a:fillRect/>
          </a:stretch>
        </p:blipFill>
        <p:spPr>
          <a:xfrm>
            <a:off x="4242816" y="1115568"/>
            <a:ext cx="3703320" cy="2761488"/>
          </a:xfrm>
          <a:prstGeom prst="rect">
            <a:avLst/>
          </a:prstGeom>
        </p:spPr>
      </p:pic>
      <p:pic>
        <p:nvPicPr>
          <p:cNvPr id="7" name="Picture 6" descr="Screenshot 2026-09-19 135945(1).png"/>
          <p:cNvPicPr>
            <a:picLocks noChangeAspect="1"/>
          </p:cNvPicPr>
          <p:nvPr/>
        </p:nvPicPr>
        <p:blipFill>
          <a:blip r:embed="rId4"/>
          <a:stretch>
            <a:fillRect/>
          </a:stretch>
        </p:blipFill>
        <p:spPr>
          <a:xfrm>
            <a:off x="8165592" y="1115568"/>
            <a:ext cx="3703320" cy="2761488"/>
          </a:xfrm>
          <a:prstGeom prst="rect">
            <a:avLst/>
          </a:prstGeom>
        </p:spPr>
      </p:pic>
      <p:sp>
        <p:nvSpPr>
          <p:cNvPr id="8" name="TextBox 7"/>
          <p:cNvSpPr txBox="1"/>
          <p:nvPr/>
        </p:nvSpPr>
        <p:spPr>
          <a:xfrm>
            <a:off x="502920" y="3986784"/>
            <a:ext cx="3337560" cy="274320"/>
          </a:xfrm>
          <a:prstGeom prst="rect">
            <a:avLst/>
          </a:prstGeom>
          <a:noFill/>
        </p:spPr>
        <p:txBody>
          <a:bodyPr wrap="square">
            <a:spAutoFit/>
          </a:bodyPr>
          <a:lstStyle/>
          <a:p>
            <a:pPr algn="ctr">
              <a:defRPr sz="1250" b="1">
                <a:solidFill>
                  <a:srgbClr val="2A5BA0"/>
                </a:solidFill>
                <a:latin typeface="Aptos"/>
              </a:defRPr>
            </a:pPr>
            <a:r>
              <a:t>Logistic Regression — 83.3%</a:t>
            </a:r>
          </a:p>
        </p:txBody>
      </p:sp>
      <p:sp>
        <p:nvSpPr>
          <p:cNvPr id="9" name="TextBox 8"/>
          <p:cNvSpPr txBox="1"/>
          <p:nvPr/>
        </p:nvSpPr>
        <p:spPr>
          <a:xfrm>
            <a:off x="4425696" y="3986784"/>
            <a:ext cx="3337560" cy="274320"/>
          </a:xfrm>
          <a:prstGeom prst="rect">
            <a:avLst/>
          </a:prstGeom>
          <a:noFill/>
        </p:spPr>
        <p:txBody>
          <a:bodyPr wrap="square">
            <a:spAutoFit/>
          </a:bodyPr>
          <a:lstStyle/>
          <a:p>
            <a:pPr algn="ctr">
              <a:defRPr sz="1250" b="1">
                <a:solidFill>
                  <a:srgbClr val="DE9D2D"/>
                </a:solidFill>
                <a:latin typeface="Aptos"/>
              </a:defRPr>
            </a:pPr>
            <a:r>
              <a:t>Decision Tree — 83.3%</a:t>
            </a:r>
          </a:p>
        </p:txBody>
      </p:sp>
      <p:sp>
        <p:nvSpPr>
          <p:cNvPr id="10" name="TextBox 9"/>
          <p:cNvSpPr txBox="1"/>
          <p:nvPr/>
        </p:nvSpPr>
        <p:spPr>
          <a:xfrm>
            <a:off x="8348472" y="3986784"/>
            <a:ext cx="3337560" cy="274320"/>
          </a:xfrm>
          <a:prstGeom prst="rect">
            <a:avLst/>
          </a:prstGeom>
          <a:noFill/>
        </p:spPr>
        <p:txBody>
          <a:bodyPr wrap="square">
            <a:spAutoFit/>
          </a:bodyPr>
          <a:lstStyle/>
          <a:p>
            <a:pPr algn="ctr">
              <a:defRPr sz="1250" b="1">
                <a:solidFill>
                  <a:srgbClr val="C24343"/>
                </a:solidFill>
                <a:latin typeface="Aptos"/>
              </a:defRPr>
            </a:pPr>
            <a:r>
              <a:t>KNN — 61.1%</a:t>
            </a:r>
          </a:p>
        </p:txBody>
      </p:sp>
      <p:sp>
        <p:nvSpPr>
          <p:cNvPr id="11" name="Rounded Rectangle 10"/>
          <p:cNvSpPr/>
          <p:nvPr/>
        </p:nvSpPr>
        <p:spPr>
          <a:xfrm>
            <a:off x="502920" y="4434840"/>
            <a:ext cx="34290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4434840"/>
            <a:ext cx="73152" cy="1325880"/>
          </a:xfrm>
          <a:prstGeom prst="rect">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4581144"/>
            <a:ext cx="3063240" cy="274320"/>
          </a:xfrm>
          <a:prstGeom prst="rect">
            <a:avLst/>
          </a:prstGeom>
          <a:noFill/>
        </p:spPr>
        <p:txBody>
          <a:bodyPr wrap="square">
            <a:spAutoFit/>
          </a:bodyPr>
          <a:lstStyle/>
          <a:p>
            <a:pPr>
              <a:defRPr sz="1250" b="1">
                <a:solidFill>
                  <a:srgbClr val="0D1F3A"/>
                </a:solidFill>
                <a:latin typeface="Aptos"/>
              </a:defRPr>
            </a:pPr>
            <a:r>
              <a:t>Logistic Regression</a:t>
            </a:r>
          </a:p>
        </p:txBody>
      </p:sp>
      <p:sp>
        <p:nvSpPr>
          <p:cNvPr id="14" name="TextBox 13"/>
          <p:cNvSpPr txBox="1"/>
          <p:nvPr/>
        </p:nvSpPr>
        <p:spPr>
          <a:xfrm>
            <a:off x="704088" y="4965192"/>
            <a:ext cx="3063240" cy="685800"/>
          </a:xfrm>
          <a:prstGeom prst="rect">
            <a:avLst/>
          </a:prstGeom>
          <a:noFill/>
        </p:spPr>
        <p:txBody>
          <a:bodyPr wrap="square">
            <a:spAutoFit/>
          </a:bodyPr>
          <a:lstStyle/>
          <a:p>
            <a:pPr>
              <a:defRPr sz="1050" b="0">
                <a:solidFill>
                  <a:srgbClr val="5F6C7D"/>
                </a:solidFill>
                <a:latin typeface="Aptos"/>
              </a:defRPr>
            </a:pPr>
            <a:r>
              <a:t>12 landings and 3 non-landings correctly predicted; 3 unsuccessful launches were classified as successful.</a:t>
            </a:r>
          </a:p>
        </p:txBody>
      </p:sp>
      <p:sp>
        <p:nvSpPr>
          <p:cNvPr id="15" name="Rounded Rectangle 14"/>
          <p:cNvSpPr/>
          <p:nvPr/>
        </p:nvSpPr>
        <p:spPr>
          <a:xfrm>
            <a:off x="4379976" y="4434840"/>
            <a:ext cx="34290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79976" y="4434840"/>
            <a:ext cx="73152" cy="1325880"/>
          </a:xfrm>
          <a:prstGeom prst="rect">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81144" y="4581144"/>
            <a:ext cx="3063240" cy="274320"/>
          </a:xfrm>
          <a:prstGeom prst="rect">
            <a:avLst/>
          </a:prstGeom>
          <a:noFill/>
        </p:spPr>
        <p:txBody>
          <a:bodyPr wrap="square">
            <a:spAutoFit/>
          </a:bodyPr>
          <a:lstStyle/>
          <a:p>
            <a:pPr>
              <a:defRPr sz="1250" b="1">
                <a:solidFill>
                  <a:srgbClr val="0D1F3A"/>
                </a:solidFill>
                <a:latin typeface="Aptos"/>
              </a:defRPr>
            </a:pPr>
            <a:r>
              <a:t>Decision Tree</a:t>
            </a:r>
          </a:p>
        </p:txBody>
      </p:sp>
      <p:sp>
        <p:nvSpPr>
          <p:cNvPr id="18" name="TextBox 17"/>
          <p:cNvSpPr txBox="1"/>
          <p:nvPr/>
        </p:nvSpPr>
        <p:spPr>
          <a:xfrm>
            <a:off x="4581144" y="4965192"/>
            <a:ext cx="3063240" cy="685800"/>
          </a:xfrm>
          <a:prstGeom prst="rect">
            <a:avLst/>
          </a:prstGeom>
          <a:noFill/>
        </p:spPr>
        <p:txBody>
          <a:bodyPr wrap="square">
            <a:spAutoFit/>
          </a:bodyPr>
          <a:lstStyle/>
          <a:p>
            <a:pPr>
              <a:defRPr sz="1050" b="0">
                <a:solidFill>
                  <a:srgbClr val="5F6C7D"/>
                </a:solidFill>
                <a:latin typeface="Aptos"/>
              </a:defRPr>
            </a:pPr>
            <a:r>
              <a:t>Produced the same confusion-matrix counts and accuracy as Logistic Regression.</a:t>
            </a:r>
          </a:p>
        </p:txBody>
      </p:sp>
      <p:sp>
        <p:nvSpPr>
          <p:cNvPr id="19" name="Rounded Rectangle 18"/>
          <p:cNvSpPr/>
          <p:nvPr/>
        </p:nvSpPr>
        <p:spPr>
          <a:xfrm>
            <a:off x="8257031" y="4434840"/>
            <a:ext cx="3429000" cy="132588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57031" y="4434840"/>
            <a:ext cx="73152" cy="1325880"/>
          </a:xfrm>
          <a:prstGeom prst="rect">
            <a:avLst/>
          </a:prstGeom>
          <a:solidFill>
            <a:srgbClr val="C2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4581144"/>
            <a:ext cx="3063240" cy="274320"/>
          </a:xfrm>
          <a:prstGeom prst="rect">
            <a:avLst/>
          </a:prstGeom>
          <a:noFill/>
        </p:spPr>
        <p:txBody>
          <a:bodyPr wrap="square">
            <a:spAutoFit/>
          </a:bodyPr>
          <a:lstStyle/>
          <a:p>
            <a:pPr>
              <a:defRPr sz="1250" b="1">
                <a:solidFill>
                  <a:srgbClr val="0D1F3A"/>
                </a:solidFill>
                <a:latin typeface="Aptos"/>
              </a:defRPr>
            </a:pPr>
            <a:r>
              <a:t>KNN</a:t>
            </a:r>
          </a:p>
        </p:txBody>
      </p:sp>
      <p:sp>
        <p:nvSpPr>
          <p:cNvPr id="22" name="TextBox 21"/>
          <p:cNvSpPr txBox="1"/>
          <p:nvPr/>
        </p:nvSpPr>
        <p:spPr>
          <a:xfrm>
            <a:off x="8458200" y="4965192"/>
            <a:ext cx="3063240" cy="685800"/>
          </a:xfrm>
          <a:prstGeom prst="rect">
            <a:avLst/>
          </a:prstGeom>
          <a:noFill/>
        </p:spPr>
        <p:txBody>
          <a:bodyPr wrap="square">
            <a:spAutoFit/>
          </a:bodyPr>
          <a:lstStyle/>
          <a:p>
            <a:pPr>
              <a:defRPr sz="1050" b="0">
                <a:solidFill>
                  <a:srgbClr val="5F6C7D"/>
                </a:solidFill>
                <a:latin typeface="Aptos"/>
              </a:defRPr>
            </a:pPr>
            <a:r>
              <a:t>Correctly predicted 8 landings and 3 non-landings; 4 successful launches were classified as unsuccessful.</a:t>
            </a:r>
          </a:p>
        </p:txBody>
      </p:sp>
      <p:sp>
        <p:nvSpPr>
          <p:cNvPr id="23" name="TextBox 22"/>
          <p:cNvSpPr txBox="1"/>
          <p:nvPr/>
        </p:nvSpPr>
        <p:spPr>
          <a:xfrm>
            <a:off x="502920" y="6556248"/>
            <a:ext cx="11155680" cy="164592"/>
          </a:xfrm>
          <a:prstGeom prst="rect">
            <a:avLst/>
          </a:prstGeom>
          <a:noFill/>
        </p:spPr>
        <p:txBody>
          <a:bodyPr wrap="square">
            <a:spAutoFit/>
          </a:bodyPr>
          <a:lstStyle/>
          <a:p>
            <a:pPr algn="r">
              <a:defRPr sz="850" b="0">
                <a:solidFill>
                  <a:srgbClr val="5F6C7D"/>
                </a:solidFill>
                <a:latin typeface="Aptos"/>
              </a:defRPr>
            </a:pPr>
            <a:r>
              <a:t>Source: SpaceX launch records dataset | Confusion matrices generated in the course lab</a:t>
            </a:r>
          </a:p>
        </p:txBody>
      </p:sp>
    </p:spTree>
    <p:extLst>
      <p:ext uri="{BB962C8B-B14F-4D97-AF65-F5344CB8AC3E}">
        <p14:creationId xmlns:p14="http://schemas.microsoft.com/office/powerpoint/2010/main" val="3961212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87552"/>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1064240" cy="384048"/>
          </a:xfrm>
          <a:prstGeom prst="rect">
            <a:avLst/>
          </a:prstGeom>
          <a:noFill/>
        </p:spPr>
        <p:txBody>
          <a:bodyPr wrap="square">
            <a:spAutoFit/>
          </a:bodyPr>
          <a:lstStyle/>
          <a:p>
            <a:pPr>
              <a:defRPr sz="2900" b="1">
                <a:solidFill>
                  <a:srgbClr val="FFFFFF"/>
                </a:solidFill>
                <a:latin typeface="Aptos"/>
              </a:defRPr>
            </a:pPr>
            <a:r>
              <a:t>Conclusion and Key Findings</a:t>
            </a:r>
          </a:p>
        </p:txBody>
      </p:sp>
      <p:sp>
        <p:nvSpPr>
          <p:cNvPr id="4" name="TextBox 3"/>
          <p:cNvSpPr txBox="1"/>
          <p:nvPr/>
        </p:nvSpPr>
        <p:spPr>
          <a:xfrm>
            <a:off x="566928" y="630936"/>
            <a:ext cx="10972800" cy="201168"/>
          </a:xfrm>
          <a:prstGeom prst="rect">
            <a:avLst/>
          </a:prstGeom>
          <a:noFill/>
        </p:spPr>
        <p:txBody>
          <a:bodyPr wrap="square">
            <a:spAutoFit/>
          </a:bodyPr>
          <a:lstStyle/>
          <a:p>
            <a:pPr>
              <a:defRPr sz="1050" b="0">
                <a:solidFill>
                  <a:srgbClr val="CADAEE"/>
                </a:solidFill>
                <a:latin typeface="Aptos"/>
              </a:defRPr>
            </a:pPr>
            <a:r>
              <a:t>Summary of the exploratory analysis, dashboard findings, and predictive modelling</a:t>
            </a:r>
          </a:p>
        </p:txBody>
      </p:sp>
      <p:sp>
        <p:nvSpPr>
          <p:cNvPr id="5" name="Rounded Rectangle 4"/>
          <p:cNvSpPr/>
          <p:nvPr/>
        </p:nvSpPr>
        <p:spPr>
          <a:xfrm>
            <a:off x="594360" y="1261872"/>
            <a:ext cx="11018520" cy="822960"/>
          </a:xfrm>
          <a:prstGeom prst="roundRect">
            <a:avLst/>
          </a:prstGeom>
          <a:solidFill>
            <a:srgbClr val="E8F0FA"/>
          </a:solidFill>
          <a:ln>
            <a:solidFill>
              <a:srgbClr val="BFD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481328"/>
            <a:ext cx="10469880" cy="347472"/>
          </a:xfrm>
          <a:prstGeom prst="rect">
            <a:avLst/>
          </a:prstGeom>
          <a:noFill/>
        </p:spPr>
        <p:txBody>
          <a:bodyPr wrap="square">
            <a:spAutoFit/>
          </a:bodyPr>
          <a:lstStyle/>
          <a:p>
            <a:pPr algn="ctr">
              <a:defRPr sz="1700" b="1">
                <a:solidFill>
                  <a:srgbClr val="0D1F3A"/>
                </a:solidFill>
                <a:latin typeface="Aptos"/>
              </a:defRPr>
            </a:pPr>
            <a:r>
              <a:t>The analysis shows that launch success varied by launch site, booster version, payload characteristics, and model choice.</a:t>
            </a:r>
          </a:p>
        </p:txBody>
      </p:sp>
      <p:sp>
        <p:nvSpPr>
          <p:cNvPr id="7" name="Rounded Rectangle 6"/>
          <p:cNvSpPr/>
          <p:nvPr/>
        </p:nvSpPr>
        <p:spPr>
          <a:xfrm>
            <a:off x="594360" y="2423160"/>
            <a:ext cx="3246120" cy="2788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 y="2423160"/>
            <a:ext cx="82296" cy="2788920"/>
          </a:xfrm>
          <a:prstGeom prst="rect">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670048"/>
            <a:ext cx="2788920" cy="292608"/>
          </a:xfrm>
          <a:prstGeom prst="rect">
            <a:avLst/>
          </a:prstGeom>
          <a:noFill/>
        </p:spPr>
        <p:txBody>
          <a:bodyPr wrap="square">
            <a:spAutoFit/>
          </a:bodyPr>
          <a:lstStyle/>
          <a:p>
            <a:pPr>
              <a:defRPr sz="1400" b="1">
                <a:solidFill>
                  <a:srgbClr val="0D1F3A"/>
                </a:solidFill>
                <a:latin typeface="Aptos"/>
              </a:defRPr>
            </a:pPr>
            <a:r>
              <a:t>Exploratory Analysis</a:t>
            </a:r>
          </a:p>
        </p:txBody>
      </p:sp>
      <p:sp>
        <p:nvSpPr>
          <p:cNvPr id="10" name="TextBox 9"/>
          <p:cNvSpPr txBox="1"/>
          <p:nvPr/>
        </p:nvSpPr>
        <p:spPr>
          <a:xfrm>
            <a:off x="822960" y="3127248"/>
            <a:ext cx="2761488" cy="1783080"/>
          </a:xfrm>
          <a:prstGeom prst="rect">
            <a:avLst/>
          </a:prstGeom>
          <a:noFill/>
        </p:spPr>
        <p:txBody>
          <a:bodyPr wrap="square">
            <a:spAutoFit/>
          </a:bodyPr>
          <a:lstStyle/>
          <a:p>
            <a:pPr>
              <a:defRPr sz="1100" b="0">
                <a:solidFill>
                  <a:srgbClr val="526174"/>
                </a:solidFill>
                <a:latin typeface="Aptos"/>
              </a:defRPr>
            </a:pPr>
            <a:r>
              <a:t>• KSC LC-39A recorded the largest share of successful launches.</a:t>
            </a:r>
            <a:br/>
            <a:r>
              <a:t>• KSC LC-39A also showed the highest launch success rate at 76.9%.</a:t>
            </a:r>
            <a:br/>
            <a:r>
              <a:t>• Payload ranges and booster categories provided additional insight into landing outcomes.</a:t>
            </a:r>
          </a:p>
        </p:txBody>
      </p:sp>
      <p:sp>
        <p:nvSpPr>
          <p:cNvPr id="11" name="Rounded Rectangle 10"/>
          <p:cNvSpPr/>
          <p:nvPr/>
        </p:nvSpPr>
        <p:spPr>
          <a:xfrm>
            <a:off x="4160520" y="2423160"/>
            <a:ext cx="3246120" cy="2788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60520" y="2423160"/>
            <a:ext cx="82296" cy="2788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2670048"/>
            <a:ext cx="2788920" cy="292608"/>
          </a:xfrm>
          <a:prstGeom prst="rect">
            <a:avLst/>
          </a:prstGeom>
          <a:noFill/>
        </p:spPr>
        <p:txBody>
          <a:bodyPr wrap="square">
            <a:spAutoFit/>
          </a:bodyPr>
          <a:lstStyle/>
          <a:p>
            <a:pPr>
              <a:defRPr sz="1400" b="1">
                <a:solidFill>
                  <a:srgbClr val="0D1F3A"/>
                </a:solidFill>
                <a:latin typeface="Aptos"/>
              </a:defRPr>
            </a:pPr>
            <a:r>
              <a:t>Booster-Version Finding</a:t>
            </a:r>
          </a:p>
        </p:txBody>
      </p:sp>
      <p:sp>
        <p:nvSpPr>
          <p:cNvPr id="14" name="TextBox 13"/>
          <p:cNvSpPr txBox="1"/>
          <p:nvPr/>
        </p:nvSpPr>
        <p:spPr>
          <a:xfrm>
            <a:off x="4389120" y="3127248"/>
            <a:ext cx="2761488" cy="1783080"/>
          </a:xfrm>
          <a:prstGeom prst="rect">
            <a:avLst/>
          </a:prstGeom>
          <a:noFill/>
        </p:spPr>
        <p:txBody>
          <a:bodyPr wrap="square">
            <a:spAutoFit/>
          </a:bodyPr>
          <a:lstStyle/>
          <a:p>
            <a:pPr>
              <a:defRPr sz="1100" b="0">
                <a:solidFill>
                  <a:srgbClr val="526174"/>
                </a:solidFill>
                <a:latin typeface="Aptos"/>
              </a:defRPr>
            </a:pPr>
            <a:r>
              <a:t>• The Falcon 9 Full Thrust (FT) booster category recorded the highest launch success rate among the evaluated versions.</a:t>
            </a:r>
            <a:br/>
            <a:r>
              <a:t>• This highlights the importance of examining technology and vehicle-generation differences.</a:t>
            </a:r>
          </a:p>
        </p:txBody>
      </p:sp>
      <p:sp>
        <p:nvSpPr>
          <p:cNvPr id="15" name="Rounded Rectangle 14"/>
          <p:cNvSpPr/>
          <p:nvPr/>
        </p:nvSpPr>
        <p:spPr>
          <a:xfrm>
            <a:off x="7726679" y="2423160"/>
            <a:ext cx="3246120" cy="2788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26679" y="2423160"/>
            <a:ext cx="82296" cy="2788920"/>
          </a:xfrm>
          <a:prstGeom prst="rect">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79" y="2670048"/>
            <a:ext cx="2788920" cy="292608"/>
          </a:xfrm>
          <a:prstGeom prst="rect">
            <a:avLst/>
          </a:prstGeom>
          <a:noFill/>
        </p:spPr>
        <p:txBody>
          <a:bodyPr wrap="square">
            <a:spAutoFit/>
          </a:bodyPr>
          <a:lstStyle/>
          <a:p>
            <a:pPr>
              <a:defRPr sz="1400" b="1">
                <a:solidFill>
                  <a:srgbClr val="0D1F3A"/>
                </a:solidFill>
                <a:latin typeface="Aptos"/>
              </a:defRPr>
            </a:pPr>
            <a:r>
              <a:t>Predictive Modelling</a:t>
            </a:r>
          </a:p>
        </p:txBody>
      </p:sp>
      <p:sp>
        <p:nvSpPr>
          <p:cNvPr id="18" name="TextBox 17"/>
          <p:cNvSpPr txBox="1"/>
          <p:nvPr/>
        </p:nvSpPr>
        <p:spPr>
          <a:xfrm>
            <a:off x="7955279" y="3127248"/>
            <a:ext cx="2761488" cy="1783080"/>
          </a:xfrm>
          <a:prstGeom prst="rect">
            <a:avLst/>
          </a:prstGeom>
          <a:noFill/>
        </p:spPr>
        <p:txBody>
          <a:bodyPr wrap="square">
            <a:spAutoFit/>
          </a:bodyPr>
          <a:lstStyle/>
          <a:p>
            <a:pPr>
              <a:defRPr sz="1100" b="0">
                <a:solidFill>
                  <a:srgbClr val="526174"/>
                </a:solidFill>
                <a:latin typeface="Aptos"/>
              </a:defRPr>
            </a:pPr>
            <a:r>
              <a:t>• Logistic Regression, SVM, and Decision Tree each achieved 83.3% test accuracy.</a:t>
            </a:r>
            <a:br/>
            <a:r>
              <a:t>• KNN achieved 61.1% and performed less effectively on this test set.</a:t>
            </a:r>
            <a:br/>
            <a:r>
              <a:t>• The strongest models correctly classified 15 of 18 test observations.</a:t>
            </a:r>
          </a:p>
        </p:txBody>
      </p:sp>
      <p:sp>
        <p:nvSpPr>
          <p:cNvPr id="19" name="Rounded Rectangle 18"/>
          <p:cNvSpPr/>
          <p:nvPr/>
        </p:nvSpPr>
        <p:spPr>
          <a:xfrm>
            <a:off x="594360" y="5532120"/>
            <a:ext cx="11018520" cy="658368"/>
          </a:xfrm>
          <a:prstGeom prst="round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5715000"/>
            <a:ext cx="10561320" cy="274320"/>
          </a:xfrm>
          <a:prstGeom prst="rect">
            <a:avLst/>
          </a:prstGeom>
          <a:noFill/>
        </p:spPr>
        <p:txBody>
          <a:bodyPr wrap="square">
            <a:spAutoFit/>
          </a:bodyPr>
          <a:lstStyle/>
          <a:p>
            <a:pPr algn="ctr">
              <a:defRPr sz="1200" b="1">
                <a:solidFill>
                  <a:srgbClr val="FFFFFF"/>
                </a:solidFill>
                <a:latin typeface="Aptos"/>
              </a:defRPr>
            </a:pPr>
            <a:r>
              <a:t>Overall takeaway: Site selection, vehicle configuration, payload characteristics, and model selection all contribute to understanding launch success.</a:t>
            </a:r>
          </a:p>
        </p:txBody>
      </p:sp>
      <p:sp>
        <p:nvSpPr>
          <p:cNvPr id="21" name="TextBox 20"/>
          <p:cNvSpPr txBox="1"/>
          <p:nvPr/>
        </p:nvSpPr>
        <p:spPr>
          <a:xfrm>
            <a:off x="594360" y="6565392"/>
            <a:ext cx="11018520" cy="146304"/>
          </a:xfrm>
          <a:prstGeom prst="rect">
            <a:avLst/>
          </a:prstGeom>
          <a:noFill/>
        </p:spPr>
        <p:txBody>
          <a:bodyPr wrap="square">
            <a:spAutoFit/>
          </a:bodyPr>
          <a:lstStyle/>
          <a:p>
            <a:pPr algn="r">
              <a:defRPr sz="850" b="0">
                <a:solidFill>
                  <a:srgbClr val="526174"/>
                </a:solidFill>
                <a:latin typeface="Aptos"/>
              </a:defRPr>
            </a:pPr>
            <a:r>
              <a:t>Source: SpaceX launch records dataset | Exploratory analysis and machine-learning evaluation</a:t>
            </a:r>
          </a:p>
        </p:txBody>
      </p:sp>
    </p:spTree>
    <p:extLst>
      <p:ext uri="{BB962C8B-B14F-4D97-AF65-F5344CB8AC3E}">
        <p14:creationId xmlns:p14="http://schemas.microsoft.com/office/powerpoint/2010/main" val="2695686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87552"/>
          </a:xfrm>
          <a:prstGeom prst="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46304"/>
            <a:ext cx="11064240" cy="384048"/>
          </a:xfrm>
          <a:prstGeom prst="rect">
            <a:avLst/>
          </a:prstGeom>
          <a:noFill/>
        </p:spPr>
        <p:txBody>
          <a:bodyPr wrap="square">
            <a:spAutoFit/>
          </a:bodyPr>
          <a:lstStyle/>
          <a:p>
            <a:pPr>
              <a:defRPr sz="2800" b="1">
                <a:solidFill>
                  <a:srgbClr val="FFFFFF"/>
                </a:solidFill>
                <a:latin typeface="Aptos Display"/>
              </a:defRPr>
            </a:pPr>
            <a:r>
              <a:t>Innovative Insights</a:t>
            </a:r>
          </a:p>
        </p:txBody>
      </p:sp>
      <p:sp>
        <p:nvSpPr>
          <p:cNvPr id="4" name="TextBox 3"/>
          <p:cNvSpPr txBox="1"/>
          <p:nvPr/>
        </p:nvSpPr>
        <p:spPr>
          <a:xfrm>
            <a:off x="566928" y="630936"/>
            <a:ext cx="10972800" cy="201168"/>
          </a:xfrm>
          <a:prstGeom prst="rect">
            <a:avLst/>
          </a:prstGeom>
          <a:noFill/>
        </p:spPr>
        <p:txBody>
          <a:bodyPr wrap="square">
            <a:spAutoFit/>
          </a:bodyPr>
          <a:lstStyle/>
          <a:p>
            <a:pPr>
              <a:defRPr sz="1050" b="0">
                <a:solidFill>
                  <a:srgbClr val="CADAEE"/>
                </a:solidFill>
                <a:latin typeface="Aptos"/>
              </a:defRPr>
            </a:pPr>
            <a:r>
              <a:t>Additional observations generated by combining visual analytics with predictive modelling</a:t>
            </a:r>
          </a:p>
        </p:txBody>
      </p:sp>
      <p:sp>
        <p:nvSpPr>
          <p:cNvPr id="5" name="Rounded Rectangle 4"/>
          <p:cNvSpPr/>
          <p:nvPr/>
        </p:nvSpPr>
        <p:spPr>
          <a:xfrm>
            <a:off x="594360" y="1234440"/>
            <a:ext cx="11018520" cy="749808"/>
          </a:xfrm>
          <a:prstGeom prst="roundRect">
            <a:avLst/>
          </a:prstGeom>
          <a:solidFill>
            <a:srgbClr val="E5F7F3"/>
          </a:solidFill>
          <a:ln>
            <a:solidFill>
              <a:srgbClr val="B7E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444752"/>
            <a:ext cx="10469880" cy="292608"/>
          </a:xfrm>
          <a:prstGeom prst="rect">
            <a:avLst/>
          </a:prstGeom>
          <a:noFill/>
        </p:spPr>
        <p:txBody>
          <a:bodyPr wrap="square">
            <a:spAutoFit/>
          </a:bodyPr>
          <a:lstStyle/>
          <a:p>
            <a:pPr algn="ctr">
              <a:defRPr sz="1600" b="1">
                <a:solidFill>
                  <a:srgbClr val="0D1F3A"/>
                </a:solidFill>
                <a:latin typeface="Aptos"/>
              </a:defRPr>
            </a:pPr>
            <a:r>
              <a:t>Launch success is not determined by a single factor; it reflects the interaction of site, payload, vehicle configuration, and operational history.</a:t>
            </a:r>
          </a:p>
        </p:txBody>
      </p:sp>
      <p:sp>
        <p:nvSpPr>
          <p:cNvPr id="7" name="Rounded Rectangle 6"/>
          <p:cNvSpPr/>
          <p:nvPr/>
        </p:nvSpPr>
        <p:spPr>
          <a:xfrm>
            <a:off x="594360" y="2331720"/>
            <a:ext cx="5422392"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5528" y="2560320"/>
            <a:ext cx="438912" cy="438912"/>
          </a:xfrm>
          <a:prstGeom prst="ellipse">
            <a:avLst/>
          </a:prstGeom>
          <a:solidFill>
            <a:srgbClr val="2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660903"/>
            <a:ext cx="438912" cy="164592"/>
          </a:xfrm>
          <a:prstGeom prst="rect">
            <a:avLst/>
          </a:prstGeom>
          <a:noFill/>
        </p:spPr>
        <p:txBody>
          <a:bodyPr wrap="square">
            <a:spAutoFit/>
          </a:bodyPr>
          <a:lstStyle/>
          <a:p>
            <a:pPr algn="ctr">
              <a:defRPr sz="1100" b="1">
                <a:solidFill>
                  <a:srgbClr val="FFFFFF"/>
                </a:solidFill>
                <a:latin typeface="Aptos"/>
              </a:defRPr>
            </a:pPr>
            <a:r>
              <a:t>1</a:t>
            </a:r>
          </a:p>
        </p:txBody>
      </p:sp>
      <p:sp>
        <p:nvSpPr>
          <p:cNvPr id="10" name="TextBox 9"/>
          <p:cNvSpPr txBox="1"/>
          <p:nvPr/>
        </p:nvSpPr>
        <p:spPr>
          <a:xfrm>
            <a:off x="1399032" y="2532888"/>
            <a:ext cx="4297680" cy="274320"/>
          </a:xfrm>
          <a:prstGeom prst="rect">
            <a:avLst/>
          </a:prstGeom>
          <a:noFill/>
        </p:spPr>
        <p:txBody>
          <a:bodyPr wrap="square">
            <a:spAutoFit/>
          </a:bodyPr>
          <a:lstStyle/>
          <a:p>
            <a:pPr>
              <a:defRPr sz="1300" b="1">
                <a:solidFill>
                  <a:srgbClr val="0D1F3A"/>
                </a:solidFill>
                <a:latin typeface="Aptos"/>
              </a:defRPr>
            </a:pPr>
            <a:r>
              <a:t>Site Selection as a Strategic Variable</a:t>
            </a:r>
          </a:p>
        </p:txBody>
      </p:sp>
      <p:sp>
        <p:nvSpPr>
          <p:cNvPr id="11" name="TextBox 10"/>
          <p:cNvSpPr txBox="1"/>
          <p:nvPr/>
        </p:nvSpPr>
        <p:spPr>
          <a:xfrm>
            <a:off x="1399032" y="2926079"/>
            <a:ext cx="4297680" cy="594360"/>
          </a:xfrm>
          <a:prstGeom prst="rect">
            <a:avLst/>
          </a:prstGeom>
          <a:noFill/>
        </p:spPr>
        <p:txBody>
          <a:bodyPr wrap="square">
            <a:spAutoFit/>
          </a:bodyPr>
          <a:lstStyle/>
          <a:p>
            <a:pPr>
              <a:defRPr sz="1050" b="0">
                <a:solidFill>
                  <a:srgbClr val="526174"/>
                </a:solidFill>
                <a:latin typeface="Aptos"/>
              </a:defRPr>
            </a:pPr>
            <a:r>
              <a:t>The variation in success rates across launch sites suggests that launch location can be treated as an important feature when analysing mission outcomes.</a:t>
            </a:r>
          </a:p>
        </p:txBody>
      </p:sp>
      <p:sp>
        <p:nvSpPr>
          <p:cNvPr id="12" name="Rounded Rectangle 11"/>
          <p:cNvSpPr/>
          <p:nvPr/>
        </p:nvSpPr>
        <p:spPr>
          <a:xfrm>
            <a:off x="6172200" y="2331720"/>
            <a:ext cx="5422392"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373368" y="2560320"/>
            <a:ext cx="438912" cy="438912"/>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2660903"/>
            <a:ext cx="438912" cy="164592"/>
          </a:xfrm>
          <a:prstGeom prst="rect">
            <a:avLst/>
          </a:prstGeom>
          <a:noFill/>
        </p:spPr>
        <p:txBody>
          <a:bodyPr wrap="square">
            <a:spAutoFit/>
          </a:bodyPr>
          <a:lstStyle/>
          <a:p>
            <a:pPr algn="ctr">
              <a:defRPr sz="1100" b="1">
                <a:solidFill>
                  <a:srgbClr val="FFFFFF"/>
                </a:solidFill>
                <a:latin typeface="Aptos"/>
              </a:defRPr>
            </a:pPr>
            <a:r>
              <a:t>2</a:t>
            </a:r>
          </a:p>
        </p:txBody>
      </p:sp>
      <p:sp>
        <p:nvSpPr>
          <p:cNvPr id="15" name="TextBox 14"/>
          <p:cNvSpPr txBox="1"/>
          <p:nvPr/>
        </p:nvSpPr>
        <p:spPr>
          <a:xfrm>
            <a:off x="6976872" y="2532888"/>
            <a:ext cx="4297680" cy="274320"/>
          </a:xfrm>
          <a:prstGeom prst="rect">
            <a:avLst/>
          </a:prstGeom>
          <a:noFill/>
        </p:spPr>
        <p:txBody>
          <a:bodyPr wrap="square">
            <a:spAutoFit/>
          </a:bodyPr>
          <a:lstStyle/>
          <a:p>
            <a:pPr>
              <a:defRPr sz="1300" b="1">
                <a:solidFill>
                  <a:srgbClr val="0D1F3A"/>
                </a:solidFill>
                <a:latin typeface="Aptos"/>
              </a:defRPr>
            </a:pPr>
            <a:r>
              <a:t>Vehicle Evolution Matters</a:t>
            </a:r>
          </a:p>
        </p:txBody>
      </p:sp>
      <p:sp>
        <p:nvSpPr>
          <p:cNvPr id="16" name="TextBox 15"/>
          <p:cNvSpPr txBox="1"/>
          <p:nvPr/>
        </p:nvSpPr>
        <p:spPr>
          <a:xfrm>
            <a:off x="6976872" y="2926079"/>
            <a:ext cx="4297680" cy="594360"/>
          </a:xfrm>
          <a:prstGeom prst="rect">
            <a:avLst/>
          </a:prstGeom>
          <a:noFill/>
        </p:spPr>
        <p:txBody>
          <a:bodyPr wrap="square">
            <a:spAutoFit/>
          </a:bodyPr>
          <a:lstStyle/>
          <a:p>
            <a:pPr>
              <a:defRPr sz="1050" b="0">
                <a:solidFill>
                  <a:srgbClr val="526174"/>
                </a:solidFill>
                <a:latin typeface="Aptos"/>
              </a:defRPr>
            </a:pPr>
            <a:r>
              <a:t>The strong performance associated with the FT booster category suggests that technological generation may provide useful predictive information.</a:t>
            </a:r>
          </a:p>
        </p:txBody>
      </p:sp>
      <p:sp>
        <p:nvSpPr>
          <p:cNvPr id="17" name="Rounded Rectangle 16"/>
          <p:cNvSpPr/>
          <p:nvPr/>
        </p:nvSpPr>
        <p:spPr>
          <a:xfrm>
            <a:off x="594360" y="4160520"/>
            <a:ext cx="5422392"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95528" y="4389120"/>
            <a:ext cx="438912" cy="438912"/>
          </a:xfrm>
          <a:prstGeom prst="ellipse">
            <a:avLst/>
          </a:prstGeom>
          <a:solidFill>
            <a:srgbClr val="DE9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5528" y="4489704"/>
            <a:ext cx="438912" cy="164592"/>
          </a:xfrm>
          <a:prstGeom prst="rect">
            <a:avLst/>
          </a:prstGeom>
          <a:noFill/>
        </p:spPr>
        <p:txBody>
          <a:bodyPr wrap="square">
            <a:spAutoFit/>
          </a:bodyPr>
          <a:lstStyle/>
          <a:p>
            <a:pPr algn="ctr">
              <a:defRPr sz="1100" b="1">
                <a:solidFill>
                  <a:srgbClr val="FFFFFF"/>
                </a:solidFill>
                <a:latin typeface="Aptos"/>
              </a:defRPr>
            </a:pPr>
            <a:r>
              <a:t>3</a:t>
            </a:r>
          </a:p>
        </p:txBody>
      </p:sp>
      <p:sp>
        <p:nvSpPr>
          <p:cNvPr id="20" name="TextBox 19"/>
          <p:cNvSpPr txBox="1"/>
          <p:nvPr/>
        </p:nvSpPr>
        <p:spPr>
          <a:xfrm>
            <a:off x="1399032" y="4361688"/>
            <a:ext cx="4297680" cy="274320"/>
          </a:xfrm>
          <a:prstGeom prst="rect">
            <a:avLst/>
          </a:prstGeom>
          <a:noFill/>
        </p:spPr>
        <p:txBody>
          <a:bodyPr wrap="square">
            <a:spAutoFit/>
          </a:bodyPr>
          <a:lstStyle/>
          <a:p>
            <a:pPr>
              <a:defRPr sz="1300" b="1">
                <a:solidFill>
                  <a:srgbClr val="0D1F3A"/>
                </a:solidFill>
                <a:latin typeface="Aptos"/>
              </a:defRPr>
            </a:pPr>
            <a:r>
              <a:t>Model Agreement Builds Confidence</a:t>
            </a:r>
          </a:p>
        </p:txBody>
      </p:sp>
      <p:sp>
        <p:nvSpPr>
          <p:cNvPr id="21" name="TextBox 20"/>
          <p:cNvSpPr txBox="1"/>
          <p:nvPr/>
        </p:nvSpPr>
        <p:spPr>
          <a:xfrm>
            <a:off x="1399032" y="4754880"/>
            <a:ext cx="4297680" cy="594360"/>
          </a:xfrm>
          <a:prstGeom prst="rect">
            <a:avLst/>
          </a:prstGeom>
          <a:noFill/>
        </p:spPr>
        <p:txBody>
          <a:bodyPr wrap="square">
            <a:spAutoFit/>
          </a:bodyPr>
          <a:lstStyle/>
          <a:p>
            <a:pPr>
              <a:defRPr sz="1050" b="0">
                <a:solidFill>
                  <a:srgbClr val="526174"/>
                </a:solidFill>
                <a:latin typeface="Aptos"/>
              </a:defRPr>
            </a:pPr>
            <a:r>
              <a:t>Logistic Regression, SVM, and Decision Tree all achieved 83.3% accuracy, indicating consistent performance across different modelling approaches.</a:t>
            </a:r>
          </a:p>
        </p:txBody>
      </p:sp>
      <p:sp>
        <p:nvSpPr>
          <p:cNvPr id="22" name="Rounded Rectangle 21"/>
          <p:cNvSpPr/>
          <p:nvPr/>
        </p:nvSpPr>
        <p:spPr>
          <a:xfrm>
            <a:off x="6172200" y="4160520"/>
            <a:ext cx="5422392" cy="14173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73368" y="4389120"/>
            <a:ext cx="438912" cy="438912"/>
          </a:xfrm>
          <a:prstGeom prst="ellipse">
            <a:avLst/>
          </a:prstGeom>
          <a:solidFill>
            <a:srgbClr val="704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73368" y="4489704"/>
            <a:ext cx="438912" cy="164592"/>
          </a:xfrm>
          <a:prstGeom prst="rect">
            <a:avLst/>
          </a:prstGeom>
          <a:noFill/>
        </p:spPr>
        <p:txBody>
          <a:bodyPr wrap="square">
            <a:spAutoFit/>
          </a:bodyPr>
          <a:lstStyle/>
          <a:p>
            <a:pPr algn="ctr">
              <a:defRPr sz="1100" b="1">
                <a:solidFill>
                  <a:srgbClr val="FFFFFF"/>
                </a:solidFill>
                <a:latin typeface="Aptos"/>
              </a:defRPr>
            </a:pPr>
            <a:r>
              <a:t>4</a:t>
            </a:r>
          </a:p>
        </p:txBody>
      </p:sp>
      <p:sp>
        <p:nvSpPr>
          <p:cNvPr id="25" name="TextBox 24"/>
          <p:cNvSpPr txBox="1"/>
          <p:nvPr/>
        </p:nvSpPr>
        <p:spPr>
          <a:xfrm>
            <a:off x="6976872" y="4361688"/>
            <a:ext cx="4297680" cy="274320"/>
          </a:xfrm>
          <a:prstGeom prst="rect">
            <a:avLst/>
          </a:prstGeom>
          <a:noFill/>
        </p:spPr>
        <p:txBody>
          <a:bodyPr wrap="square">
            <a:spAutoFit/>
          </a:bodyPr>
          <a:lstStyle/>
          <a:p>
            <a:pPr>
              <a:defRPr sz="1300" b="1">
                <a:solidFill>
                  <a:srgbClr val="0D1F3A"/>
                </a:solidFill>
                <a:latin typeface="Aptos"/>
              </a:defRPr>
            </a:pPr>
            <a:r>
              <a:t>Accuracy Alone Is Not Enough</a:t>
            </a:r>
          </a:p>
        </p:txBody>
      </p:sp>
      <p:sp>
        <p:nvSpPr>
          <p:cNvPr id="26" name="TextBox 25"/>
          <p:cNvSpPr txBox="1"/>
          <p:nvPr/>
        </p:nvSpPr>
        <p:spPr>
          <a:xfrm>
            <a:off x="6976872" y="4754880"/>
            <a:ext cx="4297680" cy="594360"/>
          </a:xfrm>
          <a:prstGeom prst="rect">
            <a:avLst/>
          </a:prstGeom>
          <a:noFill/>
        </p:spPr>
        <p:txBody>
          <a:bodyPr wrap="square">
            <a:spAutoFit/>
          </a:bodyPr>
          <a:lstStyle/>
          <a:p>
            <a:pPr>
              <a:defRPr sz="1050" b="0">
                <a:solidFill>
                  <a:srgbClr val="526174"/>
                </a:solidFill>
                <a:latin typeface="Aptos"/>
              </a:defRPr>
            </a:pPr>
            <a:r>
              <a:t>The confusion matrices show why model evaluation should include error patterns—not only overall accuracy—especially when missed or false success predictions have different implications.</a:t>
            </a:r>
          </a:p>
        </p:txBody>
      </p:sp>
      <p:sp>
        <p:nvSpPr>
          <p:cNvPr id="27" name="Rounded Rectangle 26"/>
          <p:cNvSpPr/>
          <p:nvPr/>
        </p:nvSpPr>
        <p:spPr>
          <a:xfrm>
            <a:off x="594360" y="5897880"/>
            <a:ext cx="11018520" cy="438912"/>
          </a:xfrm>
          <a:prstGeom prst="roundRect">
            <a:avLst/>
          </a:prstGeom>
          <a:solidFill>
            <a:srgbClr val="0D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6016752"/>
            <a:ext cx="10561320" cy="182880"/>
          </a:xfrm>
          <a:prstGeom prst="rect">
            <a:avLst/>
          </a:prstGeom>
          <a:noFill/>
        </p:spPr>
        <p:txBody>
          <a:bodyPr wrap="square">
            <a:spAutoFit/>
          </a:bodyPr>
          <a:lstStyle/>
          <a:p>
            <a:pPr algn="ctr">
              <a:defRPr sz="1120" b="1">
                <a:solidFill>
                  <a:srgbClr val="FFFFFF"/>
                </a:solidFill>
                <a:latin typeface="Aptos"/>
              </a:defRPr>
            </a:pPr>
            <a:r>
              <a:t>Practical implication: combine descriptive analytics with predictive models to support more informed launch-planning decisions.</a:t>
            </a:r>
          </a:p>
        </p:txBody>
      </p:sp>
      <p:sp>
        <p:nvSpPr>
          <p:cNvPr id="29" name="TextBox 28"/>
          <p:cNvSpPr txBox="1"/>
          <p:nvPr/>
        </p:nvSpPr>
        <p:spPr>
          <a:xfrm>
            <a:off x="548640" y="6565392"/>
            <a:ext cx="11064240" cy="146304"/>
          </a:xfrm>
          <a:prstGeom prst="rect">
            <a:avLst/>
          </a:prstGeom>
          <a:noFill/>
        </p:spPr>
        <p:txBody>
          <a:bodyPr wrap="square">
            <a:spAutoFit/>
          </a:bodyPr>
          <a:lstStyle/>
          <a:p>
            <a:pPr algn="r">
              <a:defRPr sz="850" b="0">
                <a:solidFill>
                  <a:srgbClr val="526174"/>
                </a:solidFill>
                <a:latin typeface="Aptos"/>
              </a:defRPr>
            </a:pPr>
            <a:r>
              <a:t>Source: SpaceX launch records dataset | Synthesized project insights</a:t>
            </a:r>
          </a:p>
        </p:txBody>
      </p:sp>
    </p:spTree>
    <p:extLst>
      <p:ext uri="{BB962C8B-B14F-4D97-AF65-F5344CB8AC3E}">
        <p14:creationId xmlns:p14="http://schemas.microsoft.com/office/powerpoint/2010/main" val="4697641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2BD460-E031-42D3-9CA1-B483D8337DB2}">
  <we:reference id="wa200010215" version="2.0.0.0" store="en-US" storeType="OMEX"/>
  <we:alternateReferences>
    <we:reference id="WA200010215" version="2.0.0.0" store="WA200010215" storeType="OMEX"/>
  </we:alternateReferences>
  <we:properties>
    <we:property name="bps.codex_control.document_id" value="&quot;19b53701-13ef-4e4a-afeb-9130c2d1b36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2140</TotalTime>
  <Words>2141</Words>
  <Application>Microsoft Office PowerPoint</Application>
  <PresentationFormat>Widescreen</PresentationFormat>
  <Paragraphs>215</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Aptos</vt:lpstr>
      <vt:lpstr>Aptos Display</vt:lpstr>
      <vt:lpstr>Arial</vt:lpstr>
      <vt:lpstr>Calibri</vt:lpstr>
      <vt:lpstr>Helv</vt:lpstr>
      <vt:lpstr>IBM Plex Mono</vt:lpstr>
      <vt:lpstr>IBM Plex Sans</vt:lpstr>
      <vt:lpstr>IBM Plex Sans SemiBold</vt:lpstr>
      <vt:lpstr>Segoe UI Emoji</vt:lpstr>
      <vt:lpstr>system-ui</vt:lpstr>
      <vt:lpstr>SLIDE_TEMPLATE_skill_network</vt:lpstr>
      <vt:lpstr>SpaceX Falcon 9 Project</vt:lpstr>
      <vt:lpstr>PowerPoint Presentation</vt:lpstr>
      <vt:lpstr>EXECUTIVE SUMMARY</vt:lpstr>
      <vt:lpstr>INTRODUCTION</vt:lpstr>
      <vt:lpstr>CAPSTONE METHODOLOGY</vt:lpstr>
      <vt:lpstr>DATA COLLECTION &amp; WRANGLING</vt:lpstr>
      <vt:lpstr>SQL ANALYSIS OF LAUNCH RECORDS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Cecil Annang</cp:lastModifiedBy>
  <cp:revision>10</cp:revision>
  <dcterms:created xsi:type="dcterms:W3CDTF">2024-10-30T05:40:03Z</dcterms:created>
  <dcterms:modified xsi:type="dcterms:W3CDTF">2026-09-19T14:58:12Z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